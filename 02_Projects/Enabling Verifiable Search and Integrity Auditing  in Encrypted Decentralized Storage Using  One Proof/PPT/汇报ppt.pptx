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23"/>
  </p:notesMasterIdLst>
  <p:sldIdLst>
    <p:sldId id="256" r:id="rId2"/>
    <p:sldId id="274" r:id="rId3"/>
    <p:sldId id="257" r:id="rId4"/>
    <p:sldId id="276" r:id="rId5"/>
    <p:sldId id="277" r:id="rId6"/>
    <p:sldId id="290" r:id="rId7"/>
    <p:sldId id="278" r:id="rId8"/>
    <p:sldId id="281" r:id="rId9"/>
    <p:sldId id="279" r:id="rId10"/>
    <p:sldId id="291" r:id="rId11"/>
    <p:sldId id="280" r:id="rId12"/>
    <p:sldId id="285" r:id="rId13"/>
    <p:sldId id="282" r:id="rId14"/>
    <p:sldId id="283" r:id="rId15"/>
    <p:sldId id="286" r:id="rId16"/>
    <p:sldId id="288" r:id="rId17"/>
    <p:sldId id="284" r:id="rId18"/>
    <p:sldId id="289" r:id="rId19"/>
    <p:sldId id="287" r:id="rId20"/>
    <p:sldId id="275" r:id="rId21"/>
    <p:sldId id="273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7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9CFD8-CAB8-48EB-8F6E-38F2E3A6F7FF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6CF644-AC1C-4DF8-AD4F-FB45846C449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478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93480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华文宋体" panose="02010600040101010101" pitchFamily="2" charset="-122"/>
                <a:ea typeface="华文宋体" panose="02010600040101010101" pitchFamily="2" charset="-122"/>
              </a:defRPr>
            </a:lvl1pPr>
            <a:lvl2pPr>
              <a:defRPr sz="2200">
                <a:latin typeface="华文宋体" panose="02010600040101010101" pitchFamily="2" charset="-122"/>
                <a:ea typeface="华文宋体" panose="02010600040101010101" pitchFamily="2" charset="-122"/>
              </a:defRPr>
            </a:lvl2pPr>
            <a:lvl3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3pPr>
            <a:lvl4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4pPr>
            <a:lvl5pPr>
              <a:defRPr>
                <a:latin typeface="华文宋体" panose="02010600040101010101" pitchFamily="2" charset="-122"/>
                <a:ea typeface="华文宋体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E70A7F-2326-E46F-3A0B-59E85AE05B16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98546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9764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F71F21-A047-5ECC-7DF6-E96809032658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8032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84545AC-89F2-4334-AB3F-97DC351DEA75}"/>
              </a:ext>
            </a:extLst>
          </p:cNvPr>
          <p:cNvSpPr/>
          <p:nvPr userDrawn="1"/>
        </p:nvSpPr>
        <p:spPr>
          <a:xfrm>
            <a:off x="8105916" y="6356350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65251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FD7AF2-C9A5-A24D-F5E8-013481917964}"/>
              </a:ext>
            </a:extLst>
          </p:cNvPr>
          <p:cNvSpPr/>
          <p:nvPr userDrawn="1"/>
        </p:nvSpPr>
        <p:spPr>
          <a:xfrm>
            <a:off x="8105916" y="6356351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094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E83FD1-55F5-1613-634F-4965941B4B78}"/>
              </a:ext>
            </a:extLst>
          </p:cNvPr>
          <p:cNvSpPr/>
          <p:nvPr userDrawn="1"/>
        </p:nvSpPr>
        <p:spPr>
          <a:xfrm>
            <a:off x="8105916" y="6356350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06986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71691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6543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华文宋体" panose="02010600040101010101" pitchFamily="2" charset="-122"/>
                <a:ea typeface="华文宋体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543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02718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66540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C75A95-381A-4B2F-9824-DE0150AA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123931-85FF-9BF6-EB02-503378FB6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11B098-358D-7411-F984-6AE7E443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09709A-454B-E727-0DD2-C0FA04E728C5}"/>
              </a:ext>
            </a:extLst>
          </p:cNvPr>
          <p:cNvSpPr/>
          <p:nvPr userDrawn="1"/>
        </p:nvSpPr>
        <p:spPr>
          <a:xfrm>
            <a:off x="1143000" y="2275029"/>
            <a:ext cx="6858000" cy="12497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3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571144-0C5A-4DD7-57CC-C65069F57D72}"/>
              </a:ext>
            </a:extLst>
          </p:cNvPr>
          <p:cNvSpPr/>
          <p:nvPr userDrawn="1"/>
        </p:nvSpPr>
        <p:spPr>
          <a:xfrm>
            <a:off x="1143000" y="3524765"/>
            <a:ext cx="6858000" cy="901185"/>
          </a:xfrm>
          <a:prstGeom prst="rect">
            <a:avLst/>
          </a:prstGeom>
          <a:solidFill>
            <a:srgbClr val="453D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700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1DBA9E07-CC5A-8801-10F6-C78F22CC295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386026" y="2689391"/>
            <a:ext cx="416718" cy="489478"/>
          </a:xfrm>
          <a:custGeom>
            <a:avLst/>
            <a:gdLst>
              <a:gd name="T0" fmla="*/ 17 w 68"/>
              <a:gd name="T1" fmla="*/ 26 h 60"/>
              <a:gd name="T2" fmla="*/ 33 w 68"/>
              <a:gd name="T3" fmla="*/ 31 h 60"/>
              <a:gd name="T4" fmla="*/ 33 w 68"/>
              <a:gd name="T5" fmla="*/ 31 h 60"/>
              <a:gd name="T6" fmla="*/ 49 w 68"/>
              <a:gd name="T7" fmla="*/ 26 h 60"/>
              <a:gd name="T8" fmla="*/ 34 w 68"/>
              <a:gd name="T9" fmla="*/ 18 h 60"/>
              <a:gd name="T10" fmla="*/ 59 w 68"/>
              <a:gd name="T11" fmla="*/ 16 h 60"/>
              <a:gd name="T12" fmla="*/ 55 w 68"/>
              <a:gd name="T13" fmla="*/ 23 h 60"/>
              <a:gd name="T14" fmla="*/ 56 w 68"/>
              <a:gd name="T15" fmla="*/ 15 h 60"/>
              <a:gd name="T16" fmla="*/ 56 w 68"/>
              <a:gd name="T17" fmla="*/ 12 h 60"/>
              <a:gd name="T18" fmla="*/ 52 w 68"/>
              <a:gd name="T19" fmla="*/ 23 h 60"/>
              <a:gd name="T20" fmla="*/ 68 w 68"/>
              <a:gd name="T21" fmla="*/ 32 h 60"/>
              <a:gd name="T22" fmla="*/ 68 w 68"/>
              <a:gd name="T23" fmla="*/ 34 h 60"/>
              <a:gd name="T24" fmla="*/ 67 w 68"/>
              <a:gd name="T25" fmla="*/ 34 h 60"/>
              <a:gd name="T26" fmla="*/ 29 w 68"/>
              <a:gd name="T27" fmla="*/ 50 h 60"/>
              <a:gd name="T28" fmla="*/ 68 w 68"/>
              <a:gd name="T29" fmla="*/ 45 h 60"/>
              <a:gd name="T30" fmla="*/ 30 w 68"/>
              <a:gd name="T31" fmla="*/ 60 h 60"/>
              <a:gd name="T32" fmla="*/ 28 w 68"/>
              <a:gd name="T33" fmla="*/ 59 h 60"/>
              <a:gd name="T34" fmla="*/ 3 w 68"/>
              <a:gd name="T35" fmla="*/ 25 h 60"/>
              <a:gd name="T36" fmla="*/ 14 w 68"/>
              <a:gd name="T37" fmla="*/ 23 h 60"/>
              <a:gd name="T38" fmla="*/ 1 w 68"/>
              <a:gd name="T39" fmla="*/ 10 h 60"/>
              <a:gd name="T40" fmla="*/ 32 w 68"/>
              <a:gd name="T41" fmla="*/ 0 h 60"/>
              <a:gd name="T42" fmla="*/ 65 w 68"/>
              <a:gd name="T43" fmla="*/ 9 h 60"/>
              <a:gd name="T44" fmla="*/ 59 w 68"/>
              <a:gd name="T45" fmla="*/ 14 h 60"/>
              <a:gd name="T46" fmla="*/ 59 w 68"/>
              <a:gd name="T47" fmla="*/ 16 h 60"/>
              <a:gd name="T48" fmla="*/ 58 w 68"/>
              <a:gd name="T49" fmla="*/ 9 h 60"/>
              <a:gd name="T50" fmla="*/ 33 w 68"/>
              <a:gd name="T51" fmla="*/ 4 h 60"/>
              <a:gd name="T52" fmla="*/ 33 w 68"/>
              <a:gd name="T53" fmla="*/ 8 h 60"/>
              <a:gd name="T54" fmla="*/ 54 w 68"/>
              <a:gd name="T55" fmla="*/ 10 h 60"/>
              <a:gd name="T56" fmla="*/ 32 w 68"/>
              <a:gd name="T57" fmla="*/ 53 h 60"/>
              <a:gd name="T58" fmla="*/ 67 w 68"/>
              <a:gd name="T59" fmla="*/ 42 h 60"/>
              <a:gd name="T60" fmla="*/ 32 w 68"/>
              <a:gd name="T61" fmla="*/ 49 h 60"/>
              <a:gd name="T62" fmla="*/ 67 w 68"/>
              <a:gd name="T63" fmla="*/ 40 h 60"/>
              <a:gd name="T64" fmla="*/ 32 w 68"/>
              <a:gd name="T65" fmla="*/ 49 h 60"/>
              <a:gd name="T66" fmla="*/ 32 w 68"/>
              <a:gd name="T67" fmla="*/ 47 h 60"/>
              <a:gd name="T68" fmla="*/ 67 w 68"/>
              <a:gd name="T69" fmla="*/ 36 h 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68" h="60">
                <a:moveTo>
                  <a:pt x="17" y="14"/>
                </a:moveTo>
                <a:cubicBezTo>
                  <a:pt x="17" y="26"/>
                  <a:pt x="17" y="26"/>
                  <a:pt x="17" y="26"/>
                </a:cubicBezTo>
                <a:cubicBezTo>
                  <a:pt x="17" y="26"/>
                  <a:pt x="18" y="27"/>
                  <a:pt x="18" y="27"/>
                </a:cubicBezTo>
                <a:cubicBezTo>
                  <a:pt x="22" y="28"/>
                  <a:pt x="29" y="31"/>
                  <a:pt x="33" y="31"/>
                </a:cubicBezTo>
                <a:cubicBezTo>
                  <a:pt x="33" y="31"/>
                  <a:pt x="33" y="31"/>
                  <a:pt x="33" y="31"/>
                </a:cubicBezTo>
                <a:cubicBezTo>
                  <a:pt x="33" y="31"/>
                  <a:pt x="33" y="31"/>
                  <a:pt x="33" y="31"/>
                </a:cubicBezTo>
                <a:cubicBezTo>
                  <a:pt x="36" y="31"/>
                  <a:pt x="39" y="30"/>
                  <a:pt x="41" y="30"/>
                </a:cubicBezTo>
                <a:cubicBezTo>
                  <a:pt x="45" y="29"/>
                  <a:pt x="47" y="27"/>
                  <a:pt x="49" y="26"/>
                </a:cubicBezTo>
                <a:cubicBezTo>
                  <a:pt x="49" y="14"/>
                  <a:pt x="49" y="14"/>
                  <a:pt x="49" y="14"/>
                </a:cubicBezTo>
                <a:cubicBezTo>
                  <a:pt x="34" y="18"/>
                  <a:pt x="34" y="18"/>
                  <a:pt x="34" y="18"/>
                </a:cubicBezTo>
                <a:cubicBezTo>
                  <a:pt x="17" y="14"/>
                  <a:pt x="17" y="14"/>
                  <a:pt x="17" y="14"/>
                </a:cubicBezTo>
                <a:close/>
                <a:moveTo>
                  <a:pt x="59" y="16"/>
                </a:moveTo>
                <a:cubicBezTo>
                  <a:pt x="61" y="23"/>
                  <a:pt x="61" y="23"/>
                  <a:pt x="61" y="23"/>
                </a:cubicBezTo>
                <a:cubicBezTo>
                  <a:pt x="59" y="25"/>
                  <a:pt x="57" y="25"/>
                  <a:pt x="55" y="23"/>
                </a:cubicBezTo>
                <a:cubicBezTo>
                  <a:pt x="56" y="16"/>
                  <a:pt x="56" y="16"/>
                  <a:pt x="56" y="16"/>
                </a:cubicBezTo>
                <a:cubicBezTo>
                  <a:pt x="56" y="16"/>
                  <a:pt x="56" y="16"/>
                  <a:pt x="56" y="15"/>
                </a:cubicBezTo>
                <a:cubicBezTo>
                  <a:pt x="56" y="15"/>
                  <a:pt x="56" y="14"/>
                  <a:pt x="56" y="14"/>
                </a:cubicBezTo>
                <a:cubicBezTo>
                  <a:pt x="56" y="12"/>
                  <a:pt x="56" y="12"/>
                  <a:pt x="56" y="12"/>
                </a:cubicBezTo>
                <a:cubicBezTo>
                  <a:pt x="52" y="13"/>
                  <a:pt x="52" y="13"/>
                  <a:pt x="52" y="13"/>
                </a:cubicBezTo>
                <a:cubicBezTo>
                  <a:pt x="52" y="23"/>
                  <a:pt x="52" y="23"/>
                  <a:pt x="52" y="23"/>
                </a:cubicBezTo>
                <a:cubicBezTo>
                  <a:pt x="68" y="30"/>
                  <a:pt x="68" y="30"/>
                  <a:pt x="68" y="30"/>
                </a:cubicBezTo>
                <a:cubicBezTo>
                  <a:pt x="68" y="32"/>
                  <a:pt x="68" y="32"/>
                  <a:pt x="68" y="32"/>
                </a:cubicBezTo>
                <a:cubicBezTo>
                  <a:pt x="68" y="34"/>
                  <a:pt x="68" y="34"/>
                  <a:pt x="68" y="34"/>
                </a:cubicBezTo>
                <a:cubicBezTo>
                  <a:pt x="68" y="34"/>
                  <a:pt x="68" y="34"/>
                  <a:pt x="68" y="34"/>
                </a:cubicBezTo>
                <a:cubicBezTo>
                  <a:pt x="68" y="34"/>
                  <a:pt x="68" y="34"/>
                  <a:pt x="68" y="34"/>
                </a:cubicBezTo>
                <a:cubicBezTo>
                  <a:pt x="67" y="34"/>
                  <a:pt x="67" y="34"/>
                  <a:pt x="67" y="34"/>
                </a:cubicBezTo>
                <a:cubicBezTo>
                  <a:pt x="30" y="44"/>
                  <a:pt x="30" y="44"/>
                  <a:pt x="30" y="44"/>
                </a:cubicBezTo>
                <a:cubicBezTo>
                  <a:pt x="29" y="46"/>
                  <a:pt x="29" y="48"/>
                  <a:pt x="29" y="50"/>
                </a:cubicBezTo>
                <a:cubicBezTo>
                  <a:pt x="29" y="52"/>
                  <a:pt x="29" y="54"/>
                  <a:pt x="30" y="56"/>
                </a:cubicBezTo>
                <a:cubicBezTo>
                  <a:pt x="68" y="45"/>
                  <a:pt x="68" y="45"/>
                  <a:pt x="68" y="45"/>
                </a:cubicBezTo>
                <a:cubicBezTo>
                  <a:pt x="68" y="48"/>
                  <a:pt x="68" y="48"/>
                  <a:pt x="68" y="48"/>
                </a:cubicBezTo>
                <a:cubicBezTo>
                  <a:pt x="30" y="60"/>
                  <a:pt x="30" y="60"/>
                  <a:pt x="30" y="60"/>
                </a:cubicBezTo>
                <a:cubicBezTo>
                  <a:pt x="29" y="60"/>
                  <a:pt x="29" y="60"/>
                  <a:pt x="29" y="60"/>
                </a:cubicBezTo>
                <a:cubicBezTo>
                  <a:pt x="28" y="59"/>
                  <a:pt x="28" y="59"/>
                  <a:pt x="28" y="59"/>
                </a:cubicBezTo>
                <a:cubicBezTo>
                  <a:pt x="3" y="38"/>
                  <a:pt x="3" y="38"/>
                  <a:pt x="3" y="38"/>
                </a:cubicBezTo>
                <a:cubicBezTo>
                  <a:pt x="2" y="34"/>
                  <a:pt x="1" y="30"/>
                  <a:pt x="3" y="25"/>
                </a:cubicBezTo>
                <a:cubicBezTo>
                  <a:pt x="3" y="25"/>
                  <a:pt x="3" y="25"/>
                  <a:pt x="3" y="25"/>
                </a:cubicBezTo>
                <a:cubicBezTo>
                  <a:pt x="14" y="23"/>
                  <a:pt x="14" y="23"/>
                  <a:pt x="14" y="23"/>
                </a:cubicBezTo>
                <a:cubicBezTo>
                  <a:pt x="14" y="13"/>
                  <a:pt x="14" y="13"/>
                  <a:pt x="14" y="13"/>
                </a:cubicBezTo>
                <a:cubicBezTo>
                  <a:pt x="1" y="10"/>
                  <a:pt x="1" y="10"/>
                  <a:pt x="1" y="10"/>
                </a:cubicBezTo>
                <a:cubicBezTo>
                  <a:pt x="0" y="8"/>
                  <a:pt x="0" y="8"/>
                  <a:pt x="0" y="8"/>
                </a:cubicBezTo>
                <a:cubicBezTo>
                  <a:pt x="32" y="0"/>
                  <a:pt x="32" y="0"/>
                  <a:pt x="32" y="0"/>
                </a:cubicBezTo>
                <a:cubicBezTo>
                  <a:pt x="65" y="7"/>
                  <a:pt x="65" y="7"/>
                  <a:pt x="65" y="7"/>
                </a:cubicBezTo>
                <a:cubicBezTo>
                  <a:pt x="65" y="9"/>
                  <a:pt x="65" y="9"/>
                  <a:pt x="65" y="9"/>
                </a:cubicBezTo>
                <a:cubicBezTo>
                  <a:pt x="59" y="11"/>
                  <a:pt x="59" y="11"/>
                  <a:pt x="59" y="11"/>
                </a:cubicBezTo>
                <a:cubicBezTo>
                  <a:pt x="59" y="14"/>
                  <a:pt x="59" y="14"/>
                  <a:pt x="59" y="14"/>
                </a:cubicBezTo>
                <a:cubicBezTo>
                  <a:pt x="59" y="14"/>
                  <a:pt x="59" y="15"/>
                  <a:pt x="59" y="15"/>
                </a:cubicBezTo>
                <a:cubicBezTo>
                  <a:pt x="59" y="16"/>
                  <a:pt x="59" y="16"/>
                  <a:pt x="59" y="16"/>
                </a:cubicBezTo>
                <a:close/>
                <a:moveTo>
                  <a:pt x="54" y="10"/>
                </a:moveTo>
                <a:cubicBezTo>
                  <a:pt x="58" y="9"/>
                  <a:pt x="58" y="9"/>
                  <a:pt x="58" y="9"/>
                </a:cubicBezTo>
                <a:cubicBezTo>
                  <a:pt x="36" y="5"/>
                  <a:pt x="36" y="5"/>
                  <a:pt x="36" y="5"/>
                </a:cubicBezTo>
                <a:cubicBezTo>
                  <a:pt x="36" y="4"/>
                  <a:pt x="34" y="4"/>
                  <a:pt x="33" y="4"/>
                </a:cubicBezTo>
                <a:cubicBezTo>
                  <a:pt x="31" y="4"/>
                  <a:pt x="29" y="5"/>
                  <a:pt x="29" y="6"/>
                </a:cubicBezTo>
                <a:cubicBezTo>
                  <a:pt x="29" y="7"/>
                  <a:pt x="31" y="8"/>
                  <a:pt x="33" y="8"/>
                </a:cubicBezTo>
                <a:cubicBezTo>
                  <a:pt x="34" y="8"/>
                  <a:pt x="35" y="8"/>
                  <a:pt x="36" y="7"/>
                </a:cubicBezTo>
                <a:cubicBezTo>
                  <a:pt x="54" y="10"/>
                  <a:pt x="54" y="10"/>
                  <a:pt x="54" y="10"/>
                </a:cubicBezTo>
                <a:close/>
                <a:moveTo>
                  <a:pt x="32" y="52"/>
                </a:moveTo>
                <a:cubicBezTo>
                  <a:pt x="32" y="53"/>
                  <a:pt x="32" y="53"/>
                  <a:pt x="32" y="53"/>
                </a:cubicBezTo>
                <a:cubicBezTo>
                  <a:pt x="67" y="43"/>
                  <a:pt x="67" y="43"/>
                  <a:pt x="67" y="43"/>
                </a:cubicBezTo>
                <a:cubicBezTo>
                  <a:pt x="67" y="42"/>
                  <a:pt x="67" y="42"/>
                  <a:pt x="67" y="42"/>
                </a:cubicBezTo>
                <a:cubicBezTo>
                  <a:pt x="32" y="52"/>
                  <a:pt x="32" y="52"/>
                  <a:pt x="32" y="52"/>
                </a:cubicBezTo>
                <a:close/>
                <a:moveTo>
                  <a:pt x="32" y="49"/>
                </a:moveTo>
                <a:cubicBezTo>
                  <a:pt x="32" y="49"/>
                  <a:pt x="32" y="49"/>
                  <a:pt x="32" y="49"/>
                </a:cubicBezTo>
                <a:cubicBezTo>
                  <a:pt x="67" y="40"/>
                  <a:pt x="67" y="40"/>
                  <a:pt x="67" y="40"/>
                </a:cubicBezTo>
                <a:cubicBezTo>
                  <a:pt x="67" y="39"/>
                  <a:pt x="67" y="39"/>
                  <a:pt x="67" y="39"/>
                </a:cubicBezTo>
                <a:cubicBezTo>
                  <a:pt x="32" y="49"/>
                  <a:pt x="32" y="49"/>
                  <a:pt x="32" y="49"/>
                </a:cubicBezTo>
                <a:close/>
                <a:moveTo>
                  <a:pt x="31" y="46"/>
                </a:moveTo>
                <a:cubicBezTo>
                  <a:pt x="32" y="47"/>
                  <a:pt x="32" y="47"/>
                  <a:pt x="32" y="47"/>
                </a:cubicBezTo>
                <a:cubicBezTo>
                  <a:pt x="67" y="37"/>
                  <a:pt x="67" y="37"/>
                  <a:pt x="67" y="37"/>
                </a:cubicBezTo>
                <a:cubicBezTo>
                  <a:pt x="67" y="36"/>
                  <a:pt x="67" y="36"/>
                  <a:pt x="67" y="36"/>
                </a:cubicBezTo>
                <a:lnTo>
                  <a:pt x="31" y="4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225017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8386549" y="300253"/>
            <a:ext cx="286603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矩形 4"/>
          <p:cNvSpPr/>
          <p:nvPr userDrawn="1"/>
        </p:nvSpPr>
        <p:spPr>
          <a:xfrm>
            <a:off x="8673152" y="66716"/>
            <a:ext cx="23201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6" name="矩形 5"/>
          <p:cNvSpPr/>
          <p:nvPr userDrawn="1"/>
        </p:nvSpPr>
        <p:spPr>
          <a:xfrm>
            <a:off x="8270542" y="6492877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8" name="文本框 7"/>
          <p:cNvSpPr txBox="1"/>
          <p:nvPr userDrawn="1"/>
        </p:nvSpPr>
        <p:spPr>
          <a:xfrm>
            <a:off x="1957376" y="99084"/>
            <a:ext cx="56649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300" b="1" dirty="0">
                <a:latin typeface="微软雅黑" panose="020B0503020204020204" pitchFamily="34" charset="-122"/>
              </a:rPr>
              <a:t> </a:t>
            </a:r>
          </a:p>
        </p:txBody>
      </p:sp>
      <p:sp>
        <p:nvSpPr>
          <p:cNvPr id="12" name="日期占位符 11">
            <a:extLst>
              <a:ext uri="{FF2B5EF4-FFF2-40B4-BE49-F238E27FC236}">
                <a16:creationId xmlns:a16="http://schemas.microsoft.com/office/drawing/2014/main" id="{11F6D53E-FB06-F6A5-0ACA-0AE3FE8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C4906-7EA5-408D-A778-BE10735DF782}" type="datetime1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13" name="页脚占位符 12">
            <a:extLst>
              <a:ext uri="{FF2B5EF4-FFF2-40B4-BE49-F238E27FC236}">
                <a16:creationId xmlns:a16="http://schemas.microsoft.com/office/drawing/2014/main" id="{B6799927-B33D-D742-BB4C-B55C7B94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>
            <a:extLst>
              <a:ext uri="{FF2B5EF4-FFF2-40B4-BE49-F238E27FC236}">
                <a16:creationId xmlns:a16="http://schemas.microsoft.com/office/drawing/2014/main" id="{8CE9B615-29E0-8068-0054-374F9A7C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34997-B2A8-4266-95AB-F24DA812A61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07EABF-EFB5-FB45-CC64-2E295E3678DF}"/>
              </a:ext>
            </a:extLst>
          </p:cNvPr>
          <p:cNvSpPr/>
          <p:nvPr userDrawn="1"/>
        </p:nvSpPr>
        <p:spPr>
          <a:xfrm>
            <a:off x="695325" y="549275"/>
            <a:ext cx="7693300" cy="57594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265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8386549" y="300253"/>
            <a:ext cx="286603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矩形 4"/>
          <p:cNvSpPr/>
          <p:nvPr userDrawn="1"/>
        </p:nvSpPr>
        <p:spPr>
          <a:xfrm>
            <a:off x="8673152" y="66716"/>
            <a:ext cx="23201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6" name="矩形 5"/>
          <p:cNvSpPr/>
          <p:nvPr userDrawn="1"/>
        </p:nvSpPr>
        <p:spPr>
          <a:xfrm>
            <a:off x="8270542" y="6492877"/>
            <a:ext cx="409434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8" name="文本框 7"/>
          <p:cNvSpPr txBox="1"/>
          <p:nvPr userDrawn="1"/>
        </p:nvSpPr>
        <p:spPr>
          <a:xfrm>
            <a:off x="1957376" y="99084"/>
            <a:ext cx="56649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300" b="1" dirty="0">
                <a:latin typeface="微软雅黑" panose="020B0503020204020204" pitchFamily="34" charset="-122"/>
              </a:rPr>
              <a:t> </a:t>
            </a:r>
          </a:p>
        </p:txBody>
      </p:sp>
      <p:sp>
        <p:nvSpPr>
          <p:cNvPr id="12" name="日期占位符 11">
            <a:extLst>
              <a:ext uri="{FF2B5EF4-FFF2-40B4-BE49-F238E27FC236}">
                <a16:creationId xmlns:a16="http://schemas.microsoft.com/office/drawing/2014/main" id="{11F6D53E-FB06-F6A5-0ACA-0AE3FE8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C4906-7EA5-408D-A778-BE10735DF782}" type="datetime1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13" name="页脚占位符 12">
            <a:extLst>
              <a:ext uri="{FF2B5EF4-FFF2-40B4-BE49-F238E27FC236}">
                <a16:creationId xmlns:a16="http://schemas.microsoft.com/office/drawing/2014/main" id="{B6799927-B33D-D742-BB4C-B55C7B94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>
            <a:extLst>
              <a:ext uri="{FF2B5EF4-FFF2-40B4-BE49-F238E27FC236}">
                <a16:creationId xmlns:a16="http://schemas.microsoft.com/office/drawing/2014/main" id="{8CE9B615-29E0-8068-0054-374F9A7C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834997-B2A8-4266-95AB-F24DA812A61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6882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C4B063-6D8F-4781-B5C5-AE4C2C0FD4A4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8884AD-98D5-4665-B023-133B10180F0D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BD27D18-184A-5FD2-9E12-924D48D9B4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47"/>
            <a:ext cx="2057400" cy="464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34E5C64-BFB2-62F4-2930-32F90F3CBE57}"/>
              </a:ext>
            </a:extLst>
          </p:cNvPr>
          <p:cNvSpPr/>
          <p:nvPr userDrawn="1"/>
        </p:nvSpPr>
        <p:spPr>
          <a:xfrm>
            <a:off x="8519432" y="294359"/>
            <a:ext cx="276549" cy="26238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57084E-5966-4DEB-C5F6-68E554143091}"/>
              </a:ext>
            </a:extLst>
          </p:cNvPr>
          <p:cNvSpPr/>
          <p:nvPr userDrawn="1"/>
        </p:nvSpPr>
        <p:spPr>
          <a:xfrm>
            <a:off x="8795981" y="60822"/>
            <a:ext cx="225371" cy="2335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</p:spTree>
    <p:extLst>
      <p:ext uri="{BB962C8B-B14F-4D97-AF65-F5344CB8AC3E}">
        <p14:creationId xmlns:p14="http://schemas.microsoft.com/office/powerpoint/2010/main" val="2128404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76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华文宋体" panose="02010600040101010101" pitchFamily="2" charset="-122"/>
          <a:ea typeface="华文宋体" panose="0201060004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44A731B-B856-2D35-D4F6-4D6D89931757}"/>
              </a:ext>
            </a:extLst>
          </p:cNvPr>
          <p:cNvSpPr txBox="1"/>
          <p:nvPr/>
        </p:nvSpPr>
        <p:spPr>
          <a:xfrm>
            <a:off x="1067581" y="2186707"/>
            <a:ext cx="70088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000" dirty="0"/>
              <a:t>Enabling Verifiable Search and Integrity Auditing in Encrypted Decentralized Storage Using One Proof</a:t>
            </a:r>
            <a:endParaRPr lang="zh-CN" altLang="en-US" sz="3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7F0FAA-A0D8-0B35-83DA-64674B72AEF3}"/>
              </a:ext>
            </a:extLst>
          </p:cNvPr>
          <p:cNvSpPr txBox="1"/>
          <p:nvPr/>
        </p:nvSpPr>
        <p:spPr>
          <a:xfrm>
            <a:off x="1471516" y="3564485"/>
            <a:ext cx="5699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加密去中心化存储环境中的可验证搜索与完整性审计方案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92C390-F2A0-91A1-943A-6F4905328296}"/>
              </a:ext>
            </a:extLst>
          </p:cNvPr>
          <p:cNvSpPr txBox="1"/>
          <p:nvPr/>
        </p:nvSpPr>
        <p:spPr>
          <a:xfrm>
            <a:off x="2933951" y="5126930"/>
            <a:ext cx="27749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华文宋体" panose="02010600040101010101" pitchFamily="2" charset="-122"/>
                <a:ea typeface="华文宋体" panose="02010600040101010101" pitchFamily="2" charset="-122"/>
              </a:rPr>
              <a:t>汇报人：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E796ED-2B51-7E8B-E990-834429676788}"/>
              </a:ext>
            </a:extLst>
          </p:cNvPr>
          <p:cNvSpPr txBox="1"/>
          <p:nvPr/>
        </p:nvSpPr>
        <p:spPr>
          <a:xfrm>
            <a:off x="7625276" y="5706967"/>
            <a:ext cx="11756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华文仿宋" panose="02010600040101010101" pitchFamily="2" charset="-122"/>
                <a:ea typeface="华文仿宋" panose="02010600040101010101" pitchFamily="2" charset="-122"/>
              </a:rPr>
              <a:t>时间</a:t>
            </a:r>
            <a:r>
              <a:rPr lang="en-US" altLang="zh-CN" sz="2000" dirty="0">
                <a:latin typeface="华文仿宋" panose="02010600040101010101" pitchFamily="2" charset="-122"/>
                <a:ea typeface="华文仿宋" panose="02010600040101010101" pitchFamily="2" charset="-122"/>
              </a:rPr>
              <a:t>:</a:t>
            </a:r>
            <a:endParaRPr lang="zh-CN" altLang="en-US" sz="2000" dirty="0">
              <a:latin typeface="华文仿宋" panose="02010600040101010101" pitchFamily="2" charset="-122"/>
              <a:ea typeface="华文仿宋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3605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5456" y="0"/>
            <a:ext cx="207658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sp>
        <p:nvSpPr>
          <p:cNvPr id="5" name="文本框 4"/>
          <p:cNvSpPr txBox="1"/>
          <p:nvPr/>
        </p:nvSpPr>
        <p:spPr>
          <a:xfrm>
            <a:off x="1278325" y="2749323"/>
            <a:ext cx="719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45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2102025" y="1592080"/>
            <a:ext cx="2853433" cy="646331"/>
            <a:chOff x="8098970" y="1684028"/>
            <a:chExt cx="3416755" cy="861774"/>
          </a:xfrm>
        </p:grpSpPr>
        <p:grpSp>
          <p:nvGrpSpPr>
            <p:cNvPr id="15" name="组合 14"/>
            <p:cNvGrpSpPr/>
            <p:nvPr/>
          </p:nvGrpSpPr>
          <p:grpSpPr>
            <a:xfrm>
              <a:off x="9066169" y="1684028"/>
              <a:ext cx="2449556" cy="861774"/>
              <a:chOff x="8987701" y="1373760"/>
              <a:chExt cx="2449556" cy="861774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9042399" y="137376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背景知识</a:t>
                </a:r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987701" y="1835425"/>
                <a:ext cx="2449556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Background Acknowledge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组合 15"/>
            <p:cNvGrpSpPr/>
            <p:nvPr/>
          </p:nvGrpSpPr>
          <p:grpSpPr>
            <a:xfrm>
              <a:off x="8098970" y="1685526"/>
              <a:ext cx="899886" cy="829499"/>
              <a:chOff x="8098970" y="1685526"/>
              <a:chExt cx="899886" cy="829499"/>
            </a:xfrm>
          </p:grpSpPr>
          <p:sp>
            <p:nvSpPr>
              <p:cNvPr id="17" name="文本框 16"/>
              <p:cNvSpPr txBox="1"/>
              <p:nvPr/>
            </p:nvSpPr>
            <p:spPr>
              <a:xfrm>
                <a:off x="8098970" y="1714806"/>
                <a:ext cx="89988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01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134913" y="1685526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21" name="组合 20"/>
          <p:cNvGrpSpPr/>
          <p:nvPr/>
        </p:nvGrpSpPr>
        <p:grpSpPr>
          <a:xfrm>
            <a:off x="4955458" y="3055826"/>
            <a:ext cx="2827940" cy="1142621"/>
            <a:chOff x="3873413" y="4736171"/>
            <a:chExt cx="3434257" cy="1523495"/>
          </a:xfrm>
        </p:grpSpPr>
        <p:grpSp>
          <p:nvGrpSpPr>
            <p:cNvPr id="22" name="组合 21"/>
            <p:cNvGrpSpPr/>
            <p:nvPr/>
          </p:nvGrpSpPr>
          <p:grpSpPr>
            <a:xfrm>
              <a:off x="4912812" y="4736171"/>
              <a:ext cx="2394858" cy="892551"/>
              <a:chOff x="4818742" y="3526390"/>
              <a:chExt cx="2394858" cy="892551"/>
            </a:xfrm>
          </p:grpSpPr>
          <p:sp>
            <p:nvSpPr>
              <p:cNvPr id="26" name="文本框 25"/>
              <p:cNvSpPr txBox="1"/>
              <p:nvPr/>
            </p:nvSpPr>
            <p:spPr>
              <a:xfrm>
                <a:off x="4818742" y="352639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实验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4818742" y="4018832"/>
                <a:ext cx="2394858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Experiment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/>
            <p:cNvGrpSpPr/>
            <p:nvPr/>
          </p:nvGrpSpPr>
          <p:grpSpPr>
            <a:xfrm>
              <a:off x="3873413" y="4753058"/>
              <a:ext cx="899886" cy="1506608"/>
              <a:chOff x="3873413" y="4753058"/>
              <a:chExt cx="899886" cy="1506608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3873413" y="4782338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04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矩形 24"/>
              <p:cNvSpPr/>
              <p:nvPr/>
            </p:nvSpPr>
            <p:spPr>
              <a:xfrm>
                <a:off x="3909356" y="4753058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2101142" y="4512919"/>
            <a:ext cx="2703650" cy="1107996"/>
            <a:chOff x="8098970" y="4751560"/>
            <a:chExt cx="3416755" cy="1508106"/>
          </a:xfrm>
        </p:grpSpPr>
        <p:grpSp>
          <p:nvGrpSpPr>
            <p:cNvPr id="29" name="组合 28"/>
            <p:cNvGrpSpPr/>
            <p:nvPr/>
          </p:nvGrpSpPr>
          <p:grpSpPr>
            <a:xfrm>
              <a:off x="9120867" y="4751560"/>
              <a:ext cx="2394858" cy="870109"/>
              <a:chOff x="9042399" y="3526390"/>
              <a:chExt cx="2394858" cy="870109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9042399" y="3526390"/>
                <a:ext cx="2394858" cy="56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方案缺陷</a:t>
                </a: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9042399" y="3988054"/>
                <a:ext cx="2394858" cy="408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Flaws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8098970" y="4753058"/>
              <a:ext cx="899886" cy="1506608"/>
              <a:chOff x="8098970" y="4753058"/>
              <a:chExt cx="899886" cy="1506608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8098970" y="4782338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05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矩形 31"/>
              <p:cNvSpPr/>
              <p:nvPr/>
            </p:nvSpPr>
            <p:spPr>
              <a:xfrm>
                <a:off x="8134913" y="4753058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35" name="组合 34"/>
          <p:cNvGrpSpPr/>
          <p:nvPr/>
        </p:nvGrpSpPr>
        <p:grpSpPr>
          <a:xfrm>
            <a:off x="4955458" y="1531172"/>
            <a:ext cx="2698915" cy="1142621"/>
            <a:chOff x="3873413" y="3187016"/>
            <a:chExt cx="3434257" cy="1523495"/>
          </a:xfrm>
        </p:grpSpPr>
        <p:grpSp>
          <p:nvGrpSpPr>
            <p:cNvPr id="36" name="组合 35"/>
            <p:cNvGrpSpPr/>
            <p:nvPr/>
          </p:nvGrpSpPr>
          <p:grpSpPr>
            <a:xfrm>
              <a:off x="4912811" y="3187016"/>
              <a:ext cx="2394859" cy="892552"/>
              <a:chOff x="4818741" y="3526390"/>
              <a:chExt cx="2394859" cy="892552"/>
            </a:xfrm>
          </p:grpSpPr>
          <p:sp>
            <p:nvSpPr>
              <p:cNvPr id="40" name="文本框 39"/>
              <p:cNvSpPr txBox="1"/>
              <p:nvPr/>
            </p:nvSpPr>
            <p:spPr>
              <a:xfrm>
                <a:off x="4818742" y="3526390"/>
                <a:ext cx="239485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方案创新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4818741" y="4018831"/>
                <a:ext cx="2394857" cy="400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Innovation</a:t>
                </a:r>
                <a:endParaRPr lang="zh-CN" altLang="en-US" sz="1350" dirty="0">
                  <a:solidFill>
                    <a:schemeClr val="bg1">
                      <a:lumMod val="6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组合 36"/>
            <p:cNvGrpSpPr/>
            <p:nvPr/>
          </p:nvGrpSpPr>
          <p:grpSpPr>
            <a:xfrm>
              <a:off x="3873413" y="3203903"/>
              <a:ext cx="899886" cy="1506608"/>
              <a:chOff x="3873413" y="3203903"/>
              <a:chExt cx="899886" cy="1506608"/>
            </a:xfrm>
          </p:grpSpPr>
          <p:sp>
            <p:nvSpPr>
              <p:cNvPr id="38" name="文本框 37"/>
              <p:cNvSpPr txBox="1"/>
              <p:nvPr/>
            </p:nvSpPr>
            <p:spPr>
              <a:xfrm>
                <a:off x="3873413" y="3233183"/>
                <a:ext cx="89988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02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3909356" y="3203903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  <p:grpSp>
        <p:nvGrpSpPr>
          <p:cNvPr id="42" name="组合 41"/>
          <p:cNvGrpSpPr/>
          <p:nvPr/>
        </p:nvGrpSpPr>
        <p:grpSpPr>
          <a:xfrm>
            <a:off x="2048627" y="3035591"/>
            <a:ext cx="2728886" cy="646331"/>
            <a:chOff x="8068576" y="3202405"/>
            <a:chExt cx="3447149" cy="861774"/>
          </a:xfrm>
        </p:grpSpPr>
        <p:grpSp>
          <p:nvGrpSpPr>
            <p:cNvPr id="43" name="组合 42"/>
            <p:cNvGrpSpPr/>
            <p:nvPr/>
          </p:nvGrpSpPr>
          <p:grpSpPr>
            <a:xfrm>
              <a:off x="9120867" y="3202405"/>
              <a:ext cx="2394858" cy="861774"/>
              <a:chOff x="9042399" y="3526390"/>
              <a:chExt cx="2394858" cy="861774"/>
            </a:xfrm>
          </p:grpSpPr>
          <p:sp>
            <p:nvSpPr>
              <p:cNvPr id="47" name="文本框 46"/>
              <p:cNvSpPr txBox="1"/>
              <p:nvPr/>
            </p:nvSpPr>
            <p:spPr>
              <a:xfrm>
                <a:off x="9042399" y="3526390"/>
                <a:ext cx="2394858" cy="553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b="1" dirty="0">
                    <a:latin typeface="微软雅黑" panose="020B0503020204020204" pitchFamily="34" charset="-122"/>
                  </a:rPr>
                  <a:t>方案实现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042399" y="3988055"/>
                <a:ext cx="2394858" cy="400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350" dirty="0">
                    <a:solidFill>
                      <a:schemeClr val="bg1">
                        <a:lumMod val="6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Implementation</a:t>
                </a:r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>
              <a:off x="8068576" y="3203903"/>
              <a:ext cx="930281" cy="829499"/>
              <a:chOff x="8068576" y="3203903"/>
              <a:chExt cx="930281" cy="829499"/>
            </a:xfrm>
          </p:grpSpPr>
          <p:sp>
            <p:nvSpPr>
              <p:cNvPr id="45" name="文本框 44"/>
              <p:cNvSpPr txBox="1"/>
              <p:nvPr/>
            </p:nvSpPr>
            <p:spPr>
              <a:xfrm>
                <a:off x="8068576" y="3233183"/>
                <a:ext cx="930281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33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03</a:t>
                </a:r>
                <a:endParaRPr lang="zh-CN" altLang="en-US" sz="33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8134913" y="3203903"/>
                <a:ext cx="828000" cy="828000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2" presetClass="entr" presetSubtype="2" fill="hold" nodeType="withEffect" p14:presetBounceEnd="40000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2" fill="hold" nodeType="withEffect" p14:presetBounceEnd="40000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4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5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2" presetClass="entr" presetSubtype="2" fill="hold" nodeType="withEffect" p14:presetBounceEnd="4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8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2" fill="hold" nodeType="withEffect" p14:presetBounceEnd="40000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2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23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2" fill="hold" nodeType="withEffect" p14:presetBounceEnd="40000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2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2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bldLvl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2" presetClass="entr" presetSubtype="2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0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1" dur="50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2" presetID="2" presetClass="entr" presetSubtype="2" fill="hold" nodeType="withEffect">
                                      <p:stCondLst>
                                        <p:cond delay="900"/>
                                      </p:stCondLst>
                                      <p:childTnLs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4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5" dur="5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6" presetID="2" presetClass="entr" presetSubtype="2" fill="hold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1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8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0" presetID="2" presetClass="entr" presetSubtype="2" fill="hold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2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3" dur="50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4" presetID="2" presetClass="entr" presetSubtype="2" fill="hold" nodeType="withEffect">
                                      <p:stCondLst>
                                        <p:cond delay="18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6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7" dur="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bldLvl="0" animBg="1"/>
        </p:bldLst>
      </p:timing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13275"/>
          </a:xfrm>
        </p:spPr>
        <p:txBody>
          <a:bodyPr/>
          <a:lstStyle/>
          <a:p>
            <a:r>
              <a:rPr lang="zh-CN" altLang="en-US" dirty="0"/>
              <a:t>背景：随着区块链技术的发展，新型 </a:t>
            </a:r>
            <a:r>
              <a:rPr lang="zh-CN" altLang="en-US" b="1" dirty="0"/>
              <a:t>去中心化存储网络（</a:t>
            </a:r>
            <a:r>
              <a:rPr lang="en-US" altLang="zh-CN" b="1" dirty="0"/>
              <a:t>Decentralized Storage Networks, DSNs</a:t>
            </a:r>
            <a:r>
              <a:rPr lang="zh-CN" altLang="en-US" b="1" dirty="0"/>
              <a:t>）</a:t>
            </a:r>
            <a:r>
              <a:rPr lang="zh-CN" altLang="en-US" dirty="0"/>
              <a:t> 如 </a:t>
            </a:r>
            <a:r>
              <a:rPr lang="en-US" altLang="zh-CN" dirty="0"/>
              <a:t>Sia</a:t>
            </a:r>
            <a:r>
              <a:rPr lang="zh-CN" altLang="en-US" dirty="0"/>
              <a:t>、</a:t>
            </a:r>
            <a:r>
              <a:rPr lang="en-US" altLang="zh-CN" dirty="0" err="1"/>
              <a:t>Filecoin</a:t>
            </a:r>
            <a:r>
              <a:rPr lang="zh-CN" altLang="en-US" dirty="0"/>
              <a:t>、</a:t>
            </a:r>
            <a:r>
              <a:rPr lang="en-US" altLang="zh-CN" dirty="0"/>
              <a:t>Swarm </a:t>
            </a:r>
            <a:r>
              <a:rPr lang="zh-CN" altLang="en-US" dirty="0"/>
              <a:t>等迅速兴起。与传统云存储相比，</a:t>
            </a:r>
            <a:r>
              <a:rPr lang="en-US" altLang="zh-CN" dirty="0"/>
              <a:t>DSN </a:t>
            </a:r>
            <a:r>
              <a:rPr lang="zh-CN" altLang="en-US" dirty="0"/>
              <a:t>依靠大量独立节点提供存储资源，具有 </a:t>
            </a:r>
            <a:r>
              <a:rPr lang="zh-CN" altLang="en-US" b="1" dirty="0"/>
              <a:t>自治性、可扩展性与透明性</a:t>
            </a:r>
            <a:r>
              <a:rPr lang="zh-CN" altLang="en-US" dirty="0"/>
              <a:t>，因此被视为未来云存储的重要形态。</a:t>
            </a:r>
            <a:endParaRPr lang="en-US" altLang="zh-CN" dirty="0"/>
          </a:p>
          <a:p>
            <a:r>
              <a:rPr lang="zh-CN" altLang="en-US" dirty="0"/>
              <a:t>在开放的环境中出现了两类基本需求：</a:t>
            </a:r>
            <a:endParaRPr lang="en-US" altLang="zh-CN" dirty="0"/>
          </a:p>
          <a:p>
            <a:pPr lvl="1"/>
            <a:r>
              <a:rPr lang="zh-CN" altLang="en-US" dirty="0"/>
              <a:t>数据完整性审计（</a:t>
            </a:r>
            <a:r>
              <a:rPr lang="en-US" altLang="zh-CN" dirty="0"/>
              <a:t>Integrity Auditing</a:t>
            </a:r>
            <a:r>
              <a:rPr lang="zh-CN" altLang="en-US" dirty="0"/>
              <a:t>）</a:t>
            </a:r>
            <a:br>
              <a:rPr lang="en-US" altLang="zh-CN" dirty="0"/>
            </a:br>
            <a:r>
              <a:rPr lang="zh-CN" altLang="en-US" dirty="0"/>
              <a:t>的基本需求，保障数据在存储系</a:t>
            </a:r>
            <a:br>
              <a:rPr lang="en-US" altLang="zh-CN" dirty="0"/>
            </a:br>
            <a:r>
              <a:rPr lang="zh-CN" altLang="en-US" dirty="0"/>
              <a:t>统的完整性。</a:t>
            </a:r>
            <a:endParaRPr lang="en-US" altLang="zh-CN" dirty="0"/>
          </a:p>
          <a:p>
            <a:pPr lvl="1"/>
            <a:r>
              <a:rPr lang="zh-CN" altLang="en-US" dirty="0"/>
              <a:t>加密数据上加密搜索需求，</a:t>
            </a:r>
            <a:br>
              <a:rPr lang="en-US" altLang="zh-CN" dirty="0"/>
            </a:br>
            <a:r>
              <a:rPr lang="zh-CN" altLang="en-US" dirty="0"/>
              <a:t>保证加密文件能够根据关键词</a:t>
            </a:r>
            <a:br>
              <a:rPr lang="en-US" altLang="zh-CN" dirty="0"/>
            </a:br>
            <a:r>
              <a:rPr lang="zh-CN" altLang="en-US" dirty="0"/>
              <a:t>及时快速搜索，确保文件真正</a:t>
            </a:r>
            <a:br>
              <a:rPr lang="en-US" altLang="zh-CN" dirty="0"/>
            </a:br>
            <a:r>
              <a:rPr lang="zh-CN" altLang="en-US" dirty="0"/>
              <a:t>的存储。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研究背景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B56CEA9-8388-F037-7011-EB1DC986D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233" y="4599217"/>
            <a:ext cx="3220767" cy="147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060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 </a:t>
            </a:r>
            <a:r>
              <a:rPr lang="en-US" altLang="zh-CN" dirty="0"/>
              <a:t>DSN </a:t>
            </a:r>
            <a:r>
              <a:rPr lang="zh-CN" altLang="en-US" dirty="0"/>
              <a:t>中同时实现“可验证搜索 </a:t>
            </a:r>
            <a:r>
              <a:rPr lang="en-US" altLang="zh-CN" dirty="0"/>
              <a:t>+ </a:t>
            </a:r>
            <a:r>
              <a:rPr lang="zh-CN" altLang="en-US" dirty="0"/>
              <a:t>完整性审计”的困难：</a:t>
            </a:r>
            <a:endParaRPr lang="en-US" altLang="zh-CN" dirty="0"/>
          </a:p>
          <a:p>
            <a:pPr lvl="1"/>
            <a:r>
              <a:rPr lang="zh-CN" altLang="en-US" dirty="0"/>
              <a:t>不能引入第三方服务器，导致单个服务节点必须是全节点。</a:t>
            </a:r>
            <a:endParaRPr lang="en-US" altLang="zh-CN" dirty="0"/>
          </a:p>
          <a:p>
            <a:pPr lvl="1"/>
            <a:r>
              <a:rPr lang="zh-CN" altLang="en-US" dirty="0"/>
              <a:t>链上空间极为有限，导致证明生成的大小受到限制。</a:t>
            </a:r>
            <a:endParaRPr lang="en-US" altLang="zh-CN" dirty="0"/>
          </a:p>
          <a:p>
            <a:r>
              <a:rPr lang="zh-CN" altLang="en-US" dirty="0"/>
              <a:t>现存方案缺陷：</a:t>
            </a:r>
            <a:endParaRPr lang="en-US" altLang="zh-CN" dirty="0"/>
          </a:p>
          <a:p>
            <a:pPr lvl="1"/>
            <a:r>
              <a:rPr lang="zh-CN" altLang="en-US" dirty="0"/>
              <a:t>多数方案依赖 </a:t>
            </a:r>
            <a:r>
              <a:rPr lang="zh-CN" altLang="en-US" b="1" dirty="0">
                <a:solidFill>
                  <a:srgbClr val="FF0000"/>
                </a:solidFill>
              </a:rPr>
              <a:t>可信第三方（</a:t>
            </a:r>
            <a:r>
              <a:rPr lang="en-US" altLang="zh-CN" b="1" dirty="0">
                <a:solidFill>
                  <a:srgbClr val="FF0000"/>
                </a:solidFill>
              </a:rPr>
              <a:t>arbiter</a:t>
            </a:r>
            <a:r>
              <a:rPr lang="zh-CN" altLang="en-US" b="1" dirty="0">
                <a:solidFill>
                  <a:srgbClr val="FF0000"/>
                </a:solidFill>
              </a:rPr>
              <a:t>）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zh-CN" altLang="en-US" dirty="0"/>
              <a:t>重算搜索即可验证结果，但这与 </a:t>
            </a:r>
            <a:r>
              <a:rPr lang="en-US" altLang="zh-CN" dirty="0"/>
              <a:t>DSN </a:t>
            </a:r>
            <a:r>
              <a:rPr lang="zh-CN" altLang="en-US" dirty="0"/>
              <a:t>的</a:t>
            </a:r>
            <a:r>
              <a:rPr lang="zh-CN" altLang="en-US" b="1" dirty="0"/>
              <a:t>去中心化原则相冲突。</a:t>
            </a:r>
            <a:endParaRPr lang="en-US" altLang="zh-CN" dirty="0"/>
          </a:p>
          <a:p>
            <a:pPr lvl="1"/>
            <a:r>
              <a:rPr lang="zh-CN" altLang="en-US" dirty="0"/>
              <a:t>在</a:t>
            </a:r>
            <a:r>
              <a:rPr lang="zh-CN" altLang="en-US" dirty="0">
                <a:solidFill>
                  <a:srgbClr val="FF0000"/>
                </a:solidFill>
              </a:rPr>
              <a:t>链上存储完整索引代价过高</a:t>
            </a:r>
            <a:r>
              <a:rPr lang="zh-CN" altLang="en-US" dirty="0"/>
              <a:t>，例如</a:t>
            </a:r>
            <a:r>
              <a:rPr lang="en-US" altLang="zh-CN" dirty="0" err="1"/>
              <a:t>Filecoin</a:t>
            </a:r>
            <a:r>
              <a:rPr lang="zh-CN" altLang="en-US" dirty="0"/>
              <a:t>的</a:t>
            </a:r>
            <a:r>
              <a:rPr lang="en-US" altLang="zh-CN" dirty="0"/>
              <a:t>SNARK</a:t>
            </a:r>
            <a:r>
              <a:rPr lang="zh-CN" altLang="en-US" dirty="0"/>
              <a:t>方案</a:t>
            </a:r>
            <a:r>
              <a:rPr lang="en-US" altLang="zh-CN" dirty="0"/>
              <a:t>,</a:t>
            </a:r>
            <a:r>
              <a:rPr lang="zh-CN" altLang="en-US" dirty="0"/>
              <a:t>公共参数就绪需要</a:t>
            </a:r>
            <a:r>
              <a:rPr lang="en-US" altLang="zh-CN" dirty="0"/>
              <a:t>2G</a:t>
            </a:r>
            <a:r>
              <a:rPr lang="zh-CN" altLang="en-US" dirty="0"/>
              <a:t>的大小。</a:t>
            </a:r>
            <a:endParaRPr lang="en-US" altLang="zh-CN" dirty="0"/>
          </a:p>
          <a:p>
            <a:pPr lvl="1"/>
            <a:r>
              <a:rPr lang="zh-CN" altLang="en-US" dirty="0"/>
              <a:t>现有方案只能单独解决“可验证搜索”或“数据完整性审计”中的某一项，而不能同时满足两者。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现存方案的不足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688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pPr lvl="1"/>
            <a:r>
              <a:rPr lang="zh-CN" altLang="en-US" dirty="0"/>
              <a:t>对称加密：用于大规模数据的加解密，解密与解密使用同样的密钥。</a:t>
            </a:r>
            <a:endParaRPr lang="en-US" altLang="zh-CN" dirty="0"/>
          </a:p>
          <a:p>
            <a:pPr lvl="1"/>
            <a:r>
              <a:rPr lang="zh-CN" altLang="en-US" dirty="0"/>
              <a:t>非对称加密：可用于数据加密与数据签名，加密解密密钥不同。一般私钥签名，公钥验证身份。公钥加密，私钥解密。</a:t>
            </a:r>
            <a:endParaRPr lang="en-US" altLang="zh-CN" dirty="0"/>
          </a:p>
          <a:p>
            <a:pPr lvl="1"/>
            <a:r>
              <a:rPr lang="zh-CN" altLang="en-US" dirty="0"/>
              <a:t>哈希算法：将加密内容生成一段固定的代码串，代码串理论上唯一且不可逆。</a:t>
            </a:r>
            <a:endParaRPr lang="en-US" altLang="zh-CN" dirty="0"/>
          </a:p>
          <a:p>
            <a:pPr marL="457200" lvl="1" indent="0">
              <a:buNone/>
            </a:pP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技术知识介绍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密码学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pic>
        <p:nvPicPr>
          <p:cNvPr id="5" name="图片 4" descr="图示&#10;&#10;描述已自动生成">
            <a:extLst>
              <a:ext uri="{FF2B5EF4-FFF2-40B4-BE49-F238E27FC236}">
                <a16:creationId xmlns:a16="http://schemas.microsoft.com/office/drawing/2014/main" id="{D46EDB79-B489-BB9D-3DFE-FD859A45D4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98" y="4480723"/>
            <a:ext cx="2008251" cy="2250141"/>
          </a:xfrm>
          <a:prstGeom prst="rect">
            <a:avLst/>
          </a:prstGeom>
        </p:spPr>
      </p:pic>
      <p:pic>
        <p:nvPicPr>
          <p:cNvPr id="9" name="图片 8" descr="图示&#10;&#10;描述已自动生成">
            <a:extLst>
              <a:ext uri="{FF2B5EF4-FFF2-40B4-BE49-F238E27FC236}">
                <a16:creationId xmlns:a16="http://schemas.microsoft.com/office/drawing/2014/main" id="{851C0D48-6901-53CE-25DE-87682B2EF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409" y="4480723"/>
            <a:ext cx="1531564" cy="2299660"/>
          </a:xfrm>
          <a:prstGeom prst="rect">
            <a:avLst/>
          </a:prstGeom>
        </p:spPr>
      </p:pic>
      <p:pic>
        <p:nvPicPr>
          <p:cNvPr id="12" name="图片 11" descr="图示&#10;&#10;描述已自动生成">
            <a:extLst>
              <a:ext uri="{FF2B5EF4-FFF2-40B4-BE49-F238E27FC236}">
                <a16:creationId xmlns:a16="http://schemas.microsoft.com/office/drawing/2014/main" id="{63963286-CF12-411D-34F2-6948B52F1E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7101" y="4480723"/>
            <a:ext cx="2340147" cy="225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289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背景知识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 </a:t>
            </a:r>
            <a:r>
              <a:rPr lang="en-US" altLang="zh-CN" dirty="0"/>
              <a:t>DSN </a:t>
            </a:r>
            <a:r>
              <a:rPr lang="zh-CN" altLang="en-US" dirty="0"/>
              <a:t>中同时实现“可验证搜索 </a:t>
            </a:r>
            <a:r>
              <a:rPr lang="en-US" altLang="zh-CN" dirty="0"/>
              <a:t>+ </a:t>
            </a:r>
            <a:r>
              <a:rPr lang="zh-CN" altLang="en-US" dirty="0"/>
              <a:t>完整性审计”的困难：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技术知识介绍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双线性配对函数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15421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方案创新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关键词安全：</a:t>
            </a:r>
            <a:endParaRPr lang="en-US" altLang="zh-CN" dirty="0"/>
          </a:p>
          <a:p>
            <a:pPr lvl="1"/>
            <a:r>
              <a:rPr lang="zh-CN" altLang="en-US" dirty="0"/>
              <a:t>文件对应的关键词为了进行关键词关联搜索，实现可搜索加密。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对称加密算法加密关键词</a:t>
            </a:r>
            <a:r>
              <a:rPr lang="zh-CN" altLang="en-US" dirty="0"/>
              <a:t>保障关键词的安全性。</a:t>
            </a:r>
            <a:endParaRPr lang="en-US" altLang="zh-CN" dirty="0"/>
          </a:p>
          <a:p>
            <a:r>
              <a:rPr lang="zh-CN" altLang="en-US" dirty="0"/>
              <a:t>前向安全</a:t>
            </a:r>
            <a:endParaRPr lang="en-US" altLang="zh-CN" dirty="0"/>
          </a:p>
          <a:p>
            <a:pPr lvl="1"/>
            <a:r>
              <a:rPr lang="zh-CN" altLang="en-US" dirty="0"/>
              <a:t>设计</a:t>
            </a:r>
            <a:r>
              <a:rPr lang="zh-CN" altLang="en-US" dirty="0">
                <a:solidFill>
                  <a:srgbClr val="FF0000"/>
                </a:solidFill>
              </a:rPr>
              <a:t>关键词的状态链</a:t>
            </a:r>
            <a:r>
              <a:rPr lang="zh-CN" altLang="en-US" dirty="0"/>
              <a:t>，关键词新增一个文件都会新增一个新的状态，更新状态链，只能获取最新的关键词状态才能解密链，获取状态与文件</a:t>
            </a:r>
            <a:r>
              <a:rPr lang="en-US" altLang="zh-CN" dirty="0"/>
              <a:t>ID</a:t>
            </a:r>
            <a:r>
              <a:rPr lang="zh-CN" altLang="en-US" dirty="0"/>
              <a:t>结合才能进行加密搜索。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技术创新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前向安全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zh-CN" altLang="en-US" dirty="0"/>
          </a:p>
        </p:txBody>
      </p:sp>
      <p:pic>
        <p:nvPicPr>
          <p:cNvPr id="7" name="图片 6" descr="图示">
            <a:extLst>
              <a:ext uri="{FF2B5EF4-FFF2-40B4-BE49-F238E27FC236}">
                <a16:creationId xmlns:a16="http://schemas.microsoft.com/office/drawing/2014/main" id="{329D4C77-CFB4-5490-EC75-2A115B3F7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311" y="4723280"/>
            <a:ext cx="2947902" cy="205541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4A3DB56-2EE6-5426-A607-FAD43CA24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182" y="4723280"/>
            <a:ext cx="4249271" cy="1608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645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方案创新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搜索证明与文件审计一体化</a:t>
            </a:r>
            <a:endParaRPr lang="en-US" altLang="zh-CN" dirty="0"/>
          </a:p>
          <a:p>
            <a:pPr lvl="1"/>
            <a:r>
              <a:rPr lang="zh-CN" altLang="en-US" dirty="0"/>
              <a:t>加密搜索的证明</a:t>
            </a:r>
            <a:endParaRPr lang="en-US" altLang="zh-CN" dirty="0"/>
          </a:p>
          <a:p>
            <a:pPr lvl="1"/>
            <a:r>
              <a:rPr lang="zh-CN" altLang="en-US" dirty="0"/>
              <a:t>数据完整性审计证明</a:t>
            </a:r>
            <a:endParaRPr lang="en-US" altLang="zh-CN" dirty="0"/>
          </a:p>
          <a:p>
            <a:pPr lvl="1"/>
            <a:r>
              <a:rPr lang="zh-CN" altLang="en-US" dirty="0"/>
              <a:t>将两个证明同时得到，并同时上链，在验证时，可以同时验证。</a:t>
            </a:r>
            <a:endParaRPr lang="en-US" altLang="zh-CN" dirty="0"/>
          </a:p>
          <a:p>
            <a:r>
              <a:rPr lang="zh-CN" altLang="en-US" dirty="0"/>
              <a:t>搜索证明与文件审计证明轻量化</a:t>
            </a:r>
            <a:endParaRPr lang="en-US" altLang="zh-CN" dirty="0"/>
          </a:p>
          <a:p>
            <a:pPr lvl="1"/>
            <a:r>
              <a:rPr lang="zh-CN" altLang="en-US" dirty="0"/>
              <a:t>生成轻量化证明：基本的模下的加运算与指数运算，证明结果有限。</a:t>
            </a:r>
            <a:endParaRPr lang="en-US" altLang="zh-CN" dirty="0"/>
          </a:p>
          <a:p>
            <a:pPr lvl="1"/>
            <a:r>
              <a:rPr lang="zh-CN" altLang="en-US" dirty="0"/>
              <a:t>验证证明轻量化：双线性配对的计算高效。</a:t>
            </a:r>
            <a:endParaRPr lang="en-US" altLang="zh-CN" dirty="0"/>
          </a:p>
          <a:p>
            <a:endParaRPr lang="en-US" altLang="zh-CN" b="1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技术创新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一体化</a:t>
            </a:r>
            <a:r>
              <a:rPr lang="en-US" altLang="zh-CN" sz="2400" dirty="0">
                <a:solidFill>
                  <a:schemeClr val="bg1"/>
                </a:solidFill>
              </a:rPr>
              <a:t>+</a:t>
            </a:r>
            <a:r>
              <a:rPr lang="zh-CN" altLang="en-US" sz="2400" dirty="0">
                <a:solidFill>
                  <a:schemeClr val="bg1"/>
                </a:solidFill>
              </a:rPr>
              <a:t>轻量化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2108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结构设计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客户端</a:t>
            </a:r>
            <a:r>
              <a:rPr lang="zh-CN" altLang="en-US" dirty="0"/>
              <a:t>：</a:t>
            </a:r>
            <a:r>
              <a:rPr lang="zh-CN" altLang="en-US" dirty="0">
                <a:solidFill>
                  <a:schemeClr val="accent1"/>
                </a:solidFill>
              </a:rPr>
              <a:t>加密</a:t>
            </a:r>
            <a:r>
              <a:rPr lang="zh-CN" altLang="en-US" dirty="0"/>
              <a:t>文件存储、</a:t>
            </a:r>
            <a:br>
              <a:rPr lang="en-US" altLang="zh-CN" dirty="0"/>
            </a:br>
            <a:r>
              <a:rPr lang="zh-CN" altLang="en-US" dirty="0"/>
              <a:t>删除、</a:t>
            </a:r>
            <a:r>
              <a:rPr lang="zh-CN" altLang="en-US" dirty="0">
                <a:solidFill>
                  <a:schemeClr val="accent1"/>
                </a:solidFill>
              </a:rPr>
              <a:t>请求</a:t>
            </a:r>
            <a:r>
              <a:rPr lang="zh-CN" altLang="en-US" dirty="0"/>
              <a:t>关键词搜索。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区块链</a:t>
            </a:r>
            <a:r>
              <a:rPr lang="zh-CN" altLang="en-US" dirty="0"/>
              <a:t>：</a:t>
            </a:r>
            <a:r>
              <a:rPr lang="zh-CN" altLang="en-US" dirty="0">
                <a:solidFill>
                  <a:schemeClr val="accent1"/>
                </a:solidFill>
              </a:rPr>
              <a:t>存储</a:t>
            </a:r>
            <a:r>
              <a:rPr lang="zh-CN" altLang="en-US" dirty="0"/>
              <a:t>客户端的</a:t>
            </a:r>
            <a:br>
              <a:rPr lang="en-US" altLang="zh-CN" dirty="0"/>
            </a:br>
            <a:r>
              <a:rPr lang="zh-CN" altLang="en-US" dirty="0"/>
              <a:t>证明生成请求、客户端</a:t>
            </a:r>
            <a:br>
              <a:rPr lang="en-US" altLang="zh-CN" dirty="0"/>
            </a:br>
            <a:r>
              <a:rPr lang="zh-CN" altLang="en-US" dirty="0"/>
              <a:t>的公钥、固定公共参数</a:t>
            </a:r>
            <a:br>
              <a:rPr lang="en-US" altLang="zh-CN" dirty="0"/>
            </a:br>
            <a:r>
              <a:rPr lang="zh-CN" altLang="en-US" dirty="0"/>
              <a:t>、生成的证明、验证结</a:t>
            </a:r>
            <a:br>
              <a:rPr lang="en-US" altLang="zh-CN" dirty="0"/>
            </a:br>
            <a:r>
              <a:rPr lang="zh-CN" altLang="en-US" dirty="0"/>
              <a:t>果。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存储端</a:t>
            </a:r>
            <a:r>
              <a:rPr lang="zh-CN" altLang="en-US" dirty="0"/>
              <a:t>：加密文件进行</a:t>
            </a:r>
            <a:br>
              <a:rPr lang="en-US" altLang="zh-CN" dirty="0"/>
            </a:br>
            <a:r>
              <a:rPr lang="zh-CN" altLang="en-US" dirty="0">
                <a:solidFill>
                  <a:schemeClr val="accent1"/>
                </a:solidFill>
              </a:rPr>
              <a:t>存储</a:t>
            </a:r>
            <a:r>
              <a:rPr lang="zh-CN" altLang="en-US" dirty="0"/>
              <a:t>、</a:t>
            </a:r>
            <a:r>
              <a:rPr lang="zh-CN" altLang="en-US" dirty="0">
                <a:solidFill>
                  <a:schemeClr val="accent1"/>
                </a:solidFill>
              </a:rPr>
              <a:t>检索</a:t>
            </a:r>
            <a:r>
              <a:rPr lang="zh-CN" altLang="en-US" dirty="0"/>
              <a:t>，通过关键</a:t>
            </a:r>
            <a:br>
              <a:rPr lang="en-US" altLang="zh-CN" dirty="0"/>
            </a:br>
            <a:r>
              <a:rPr lang="zh-CN" altLang="en-US" dirty="0"/>
              <a:t>词进行可</a:t>
            </a:r>
            <a:r>
              <a:rPr lang="zh-CN" altLang="en-US" dirty="0">
                <a:solidFill>
                  <a:srgbClr val="FF0000"/>
                </a:solidFill>
              </a:rPr>
              <a:t>验证</a:t>
            </a:r>
            <a:r>
              <a:rPr lang="zh-CN" altLang="en-US" dirty="0">
                <a:solidFill>
                  <a:schemeClr val="accent1"/>
                </a:solidFill>
              </a:rPr>
              <a:t>搜索证明</a:t>
            </a:r>
            <a:br>
              <a:rPr lang="en-US" altLang="zh-CN" dirty="0"/>
            </a:br>
            <a:r>
              <a:rPr lang="zh-CN" altLang="en-US" dirty="0"/>
              <a:t>的</a:t>
            </a:r>
            <a:r>
              <a:rPr lang="zh-CN" altLang="en-US" dirty="0">
                <a:solidFill>
                  <a:schemeClr val="accent1"/>
                </a:solidFill>
              </a:rPr>
              <a:t>生成</a:t>
            </a:r>
            <a:r>
              <a:rPr lang="zh-CN" altLang="en-US" dirty="0"/>
              <a:t>以及通过</a:t>
            </a:r>
            <a:r>
              <a:rPr lang="zh-CN" altLang="en-US" dirty="0">
                <a:solidFill>
                  <a:schemeClr val="accent1"/>
                </a:solidFill>
              </a:rPr>
              <a:t>文件</a:t>
            </a:r>
            <a:r>
              <a:rPr lang="en-US" altLang="zh-CN" dirty="0"/>
              <a:t>ID</a:t>
            </a:r>
            <a:br>
              <a:rPr lang="en-US" altLang="zh-CN" dirty="0"/>
            </a:br>
            <a:r>
              <a:rPr lang="zh-CN" altLang="en-US" dirty="0"/>
              <a:t>进行</a:t>
            </a:r>
            <a:r>
              <a:rPr lang="zh-CN" altLang="en-US" dirty="0">
                <a:solidFill>
                  <a:schemeClr val="accent1"/>
                </a:solidFill>
              </a:rPr>
              <a:t>完整性审计</a:t>
            </a:r>
            <a:r>
              <a:rPr lang="zh-CN" altLang="en-US" dirty="0"/>
              <a:t>证明生</a:t>
            </a:r>
            <a:br>
              <a:rPr lang="en-US" altLang="zh-CN" dirty="0"/>
            </a:br>
            <a:r>
              <a:rPr lang="zh-CN" altLang="en-US" dirty="0"/>
              <a:t>成与</a:t>
            </a:r>
            <a:r>
              <a:rPr lang="zh-CN" altLang="en-US" dirty="0">
                <a:solidFill>
                  <a:srgbClr val="FF0000"/>
                </a:solidFill>
              </a:rPr>
              <a:t>验证</a:t>
            </a:r>
            <a:r>
              <a:rPr lang="zh-CN" altLang="en-US" dirty="0"/>
              <a:t>上链。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方案概述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结构设计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6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8ECBE42-94D3-E1D6-0993-B25E1D3AE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948" y="2230432"/>
            <a:ext cx="4555336" cy="333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983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参数选择</a:t>
            </a:r>
            <a:endParaRPr lang="en-US" altLang="zh-CN" dirty="0"/>
          </a:p>
          <a:p>
            <a:r>
              <a:rPr lang="zh-CN" altLang="en-US" b="1" dirty="0"/>
              <a:t>函数</a:t>
            </a:r>
            <a:endParaRPr lang="en-US" altLang="zh-CN" b="1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91771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系统初始化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641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3"/>
                <a:ext cx="7886700" cy="5032377"/>
              </a:xfrm>
            </p:spPr>
            <p:txBody>
              <a:bodyPr>
                <a:normAutofit lnSpcReduction="10000"/>
              </a:bodyPr>
              <a:lstStyle/>
              <a:p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lvl="1"/>
                <a:endParaRPr lang="en-US" altLang="zh-CN" dirty="0"/>
              </a:p>
              <a:p>
                <a:pPr marL="457200" lvl="1" indent="0">
                  <a:buNone/>
                </a:pPr>
                <a:endParaRPr lang="en-US" altLang="zh-CN" dirty="0"/>
              </a:p>
              <a:p>
                <a:pPr lvl="1"/>
                <a:r>
                  <a:rPr lang="en-US" altLang="zh-CN" dirty="0"/>
                  <a:t>1.</a:t>
                </a:r>
                <a:r>
                  <a:rPr lang="zh-CN" altLang="en-US" dirty="0"/>
                  <a:t>输入文件</a:t>
                </a: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altLang="zh-CN" dirty="0"/>
                  <a:t>)</a:t>
                </a:r>
                <a:r>
                  <a:rPr lang="zh-CN" altLang="en-US" dirty="0"/>
                  <a:t>、关键词</a:t>
                </a:r>
                <a:r>
                  <a:rPr lang="en-US" altLang="zh-CN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i="1" dirty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)</a:t>
                </a:r>
                <a:r>
                  <a:rPr lang="zh-CN" altLang="en-US" dirty="0"/>
                  <a:t>、客户端私钥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𝑆𝐾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𝑠𝑘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𝑚𝑘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zh-CN" b="0" dirty="0"/>
              </a:p>
              <a:p>
                <a:pPr lvl="1"/>
                <a:r>
                  <a:rPr lang="en-US" altLang="zh-CN" dirty="0"/>
                  <a:t> 2.</a:t>
                </a:r>
                <a:r>
                  <a:rPr lang="zh-CN" altLang="en-US" dirty="0"/>
                  <a:t>加密：密文</a:t>
                </a:r>
                <a14:m>
                  <m:oMath xmlns:m="http://schemas.openxmlformats.org/officeDocument/2006/math">
                    <m:r>
                      <a:rPr lang="zh-CN" altLang="en-US" b="0" i="1">
                        <a:latin typeface="Cambria Math" panose="02040503050406030204" pitchFamily="18" charset="0"/>
                      </a:rPr>
                      <m:t>：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𝑆𝐸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𝐸𝑛𝑐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>
                    <a:solidFill>
                      <a:schemeClr val="accent1"/>
                    </a:solidFill>
                  </a:rPr>
                  <a:t>Search Token</a:t>
                </a:r>
                <a:r>
                  <a:rPr lang="zh-CN" altLang="en-US" dirty="0"/>
                  <a:t>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i="1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SE</m:t>
                    </m:r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mk</m:t>
                        </m:r>
                        <m:r>
                          <a:rPr lang="en-US" altLang="zh-CN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dirty="0" smtClean="0"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b="0" dirty="0"/>
              </a:p>
              <a:p>
                <a:pPr lvl="2"/>
                <a:r>
                  <a:rPr lang="en-US" altLang="zh-CN" dirty="0">
                    <a:solidFill>
                      <a:schemeClr val="accent1"/>
                    </a:solidFill>
                  </a:rPr>
                  <a:t>State Associated Token</a:t>
                </a:r>
                <a:r>
                  <a:rPr lang="en-US" altLang="zh-CN" dirty="0"/>
                  <a:t>:</a:t>
                </a:r>
                <a:r>
                  <a:rPr lang="zh-CN" alt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b="0" dirty="0"/>
              </a:p>
              <a:p>
                <a:pPr lvl="2"/>
                <a:r>
                  <a:rPr lang="zh-CN" altLang="en-US" dirty="0">
                    <a:solidFill>
                      <a:schemeClr val="accent1"/>
                    </a:solidFill>
                  </a:rPr>
                  <a:t>认证标签集合</a:t>
                </a:r>
                <a:r>
                  <a:rPr lang="en-US" altLang="zh-CN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T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𝐷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nary>
                                  <m:naryPr>
                                    <m:chr m:val="∏"/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altLang="zh-CN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e>
                              <m:sup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𝑠𝑘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CN" dirty="0"/>
              </a:p>
              <a:p>
                <a:pPr lvl="2"/>
                <a:r>
                  <a:rPr lang="en-US" altLang="zh-CN" dirty="0">
                    <a:solidFill>
                      <a:schemeClr val="accent1"/>
                    </a:solidFill>
                  </a:rPr>
                  <a:t>Keyword associated tag</a:t>
                </a:r>
                <a:r>
                  <a:rPr lang="en-US" altLang="zh-CN" dirty="0"/>
                  <a:t>:</a:t>
                </a:r>
              </a:p>
              <a:p>
                <a:pPr lvl="3"/>
                <a:r>
                  <a:rPr lang="zh-CN" altLang="en-US" dirty="0"/>
                  <a:t>关键词无前一个状态：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d>
                          <m:d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𝑤𝑖</m:t>
                            </m:r>
                          </m:e>
                        </m:d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CN" i="0">
                                        <a:latin typeface="Cambria Math" panose="02040503050406030204" pitchFamily="18" charset="0"/>
                                      </a:rPr>
                                      <m:t>st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𝑠𝑘</m:t>
                        </m:r>
                      </m:sup>
                    </m:sSup>
                  </m:oMath>
                </a14:m>
                <a:endParaRPr lang="en-US" altLang="zh-CN" b="0" dirty="0"/>
              </a:p>
              <a:p>
                <a:pPr lvl="3"/>
                <a:r>
                  <a:rPr lang="zh-CN" altLang="en-US" dirty="0"/>
                  <a:t>关键词有前一个状态：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dirty="0">
                        <a:latin typeface="Cambria Math" panose="02040503050406030204" pitchFamily="18" charset="0"/>
                      </a:rPr>
                      <m:t>k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d>
                          <m:d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f>
                              <m:fPr>
                                <m:ctrlP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en-US" altLang="zh-CN" b="0" i="1" dirty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en-US" altLang="zh-CN" b="0" i="1" dirty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𝑠𝑘</m:t>
                        </m:r>
                      </m:sup>
                    </m:sSup>
                  </m:oMath>
                </a14:m>
                <a:endParaRPr lang="en-US" altLang="zh-CN" dirty="0"/>
              </a:p>
              <a:p>
                <a:pPr lvl="1"/>
                <a:r>
                  <a:rPr lang="en-US" altLang="zh-CN" dirty="0"/>
                  <a:t>3.</a:t>
                </a:r>
                <a:r>
                  <a:rPr lang="zh-CN" altLang="en-US" dirty="0"/>
                  <a:t>发送这些数据到服务端。</a:t>
                </a:r>
                <a:endParaRPr lang="en-US" altLang="zh-CN" dirty="0"/>
              </a:p>
              <a:p>
                <a:pPr marL="457200" lvl="1" indent="0">
                  <a:buNone/>
                </a:pPr>
                <a:endParaRPr lang="en-US" altLang="zh-CN" dirty="0"/>
              </a:p>
              <a:p>
                <a:pPr lvl="1"/>
                <a:endParaRPr lang="en-US" altLang="zh-CN" dirty="0"/>
              </a:p>
            </p:txBody>
          </p:sp>
        </mc:Choice>
        <mc:Fallback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3"/>
                <a:ext cx="7886700" cy="50323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插入操作实现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客户端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F7008FC-FF6A-9DD8-DE06-8C0377023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339" y="1825623"/>
            <a:ext cx="6044357" cy="13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981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96582"/>
            <a:ext cx="7886700" cy="4759939"/>
          </a:xfrm>
        </p:spPr>
        <p:txBody>
          <a:bodyPr>
            <a:normAutofit/>
          </a:bodyPr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将客户端发送的数据存储在索引数据库与密文数据库。</a:t>
            </a:r>
            <a:endParaRPr lang="en-US" altLang="zh-CN" dirty="0"/>
          </a:p>
          <a:p>
            <a:r>
              <a:rPr lang="zh-CN" altLang="en-US" dirty="0"/>
              <a:t>设置文件状态为</a:t>
            </a:r>
            <a:r>
              <a:rPr lang="en-US" altLang="zh-CN" dirty="0"/>
              <a:t>valid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插入操作完成。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28582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插入操作实现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服务端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C2C8605-9140-7635-BE32-3820CE140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110" y="1804299"/>
            <a:ext cx="6028843" cy="312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25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客户端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计算：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del</m:t>
                    </m:r>
                    <m:r>
                      <a:rPr lang="en-US" altLang="zh-CN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sSub>
                              <m:sSubPr>
                                <m:ctrlPr>
                                  <a:rPr lang="en-US" altLang="zh-CN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𝑠𝑘</m:t>
                        </m:r>
                      </m:sup>
                    </m:sSup>
                  </m:oMath>
                </a14:m>
                <a:endParaRPr lang="en-US" altLang="zh-CN" b="0" dirty="0"/>
              </a:p>
              <a:p>
                <a:pPr lvl="1"/>
                <a:r>
                  <a:rPr lang="zh-CN" altLang="en-US" dirty="0"/>
                  <a:t>发送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𝑑𝑒𝑙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/>
                  <a:t>到服务端。</a:t>
                </a:r>
                <a:endParaRPr lang="en-US" altLang="zh-CN" dirty="0"/>
              </a:p>
              <a:p>
                <a:r>
                  <a:rPr lang="zh-CN" altLang="en-US" dirty="0"/>
                  <a:t>服务端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根据索引数据库，删除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endParaRPr lang="en-US" altLang="zh-CN" b="0" dirty="0"/>
              </a:p>
              <a:p>
                <a:pPr lvl="1"/>
                <a:r>
                  <a:rPr lang="zh-CN" altLang="en-US" dirty="0"/>
                  <a:t>更新计算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k</m:t>
                    </m:r>
                    <m:sSup>
                      <m:sSupPr>
                        <m:ctrlP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sSub>
                          <m:sSubPr>
                            <m:ctrlP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r>
                      <a:rPr lang="en-US" altLang="zh-CN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p>
                        </m:sSup>
                      </m:num>
                      <m:den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𝑑𝑒𝑙</m:t>
                        </m:r>
                      </m:den>
                    </m:f>
                  </m:oMath>
                </a14:m>
                <a:r>
                  <a:rPr lang="en-US" altLang="zh-CN" dirty="0"/>
                  <a:t>,</a:t>
                </a:r>
                <a:r>
                  <a:rPr lang="zh-CN" altLang="en-US" dirty="0"/>
                  <a:t>删除文件</a:t>
                </a:r>
                <a:r>
                  <a:rPr lang="en-US" altLang="zh-CN" dirty="0"/>
                  <a:t>ID</a:t>
                </a:r>
                <a:r>
                  <a:rPr lang="zh-CN" altLang="en-US" dirty="0"/>
                  <a:t>认证。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删除加密文件</a:t>
                </a:r>
                <a:r>
                  <a:rPr lang="en-US" altLang="zh-CN" dirty="0"/>
                  <a:t>C</a:t>
                </a:r>
                <a:r>
                  <a:rPr lang="zh-CN" altLang="en-US" dirty="0"/>
                  <a:t>与设置文件状态为</a:t>
                </a:r>
                <a:r>
                  <a:rPr lang="en-US" altLang="zh-CN" dirty="0"/>
                  <a:t>invalid.</a:t>
                </a:r>
              </a:p>
              <a:p>
                <a:pPr lvl="1"/>
                <a:r>
                  <a:rPr lang="zh-CN" altLang="en-US" dirty="0"/>
                  <a:t>删除操作结束。</a:t>
                </a:r>
                <a:endParaRPr lang="en-US" altLang="zh-CN" dirty="0"/>
              </a:p>
            </p:txBody>
          </p:sp>
        </mc:Choice>
        <mc:Fallback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删除操作实现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C04BC8B-B335-2187-9433-29CC56E27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460" y="1875258"/>
            <a:ext cx="3677142" cy="1903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98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CN" altLang="en-US" dirty="0"/>
                  <a:t>客户端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获取关键词</a:t>
                </a:r>
                <a:r>
                  <a:rPr lang="en-US" altLang="zh-CN" dirty="0"/>
                  <a:t>w,</a:t>
                </a:r>
                <a:r>
                  <a:rPr lang="zh-CN" altLang="en-US" dirty="0"/>
                  <a:t>与关键词最近状态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altLang="zh-CN" dirty="0"/>
              </a:p>
              <a:p>
                <a:pPr lvl="1"/>
                <a:r>
                  <a:rPr lang="zh-CN" altLang="en-US" dirty="0"/>
                  <a:t>加密：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𝑆𝐸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𝐸𝑛𝑐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𝑚𝑘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  <a:p>
                <a:pPr lvl="1"/>
                <a:r>
                  <a:rPr lang="zh-CN" altLang="en-US" dirty="0">
                    <a:solidFill>
                      <a:srgbClr val="FF0000"/>
                    </a:solidFill>
                  </a:rPr>
                  <a:t>发送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到</m:t>
                    </m:r>
                  </m:oMath>
                </a14:m>
                <a:r>
                  <a:rPr lang="zh-CN" altLang="en-US" dirty="0">
                    <a:solidFill>
                      <a:srgbClr val="FF0000"/>
                    </a:solidFill>
                  </a:rPr>
                  <a:t>区块链的存储合约</a:t>
                </a:r>
                <a:endParaRPr lang="en-US" altLang="zh-CN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zh-CN" altLang="en-US" dirty="0">
                    <a:solidFill>
                      <a:schemeClr val="accent1"/>
                    </a:solidFill>
                  </a:rPr>
                  <a:t>获取验证结果。</a:t>
                </a:r>
                <a:endParaRPr lang="en-US" altLang="zh-CN" dirty="0">
                  <a:solidFill>
                    <a:schemeClr val="accent1"/>
                  </a:solidFill>
                </a:endParaRPr>
              </a:p>
              <a:p>
                <a:r>
                  <a:rPr lang="zh-CN" altLang="en-US" dirty="0"/>
                  <a:t>区块链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接收并存储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en-US" altLang="zh-CN" dirty="0"/>
              </a:p>
              <a:p>
                <a:pPr lvl="1"/>
                <a:r>
                  <a:rPr lang="zh-CN" altLang="en-US" dirty="0"/>
                  <a:t>接受存储搜索证明。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接受存储搜索证明验证。</a:t>
                </a:r>
                <a:endParaRPr lang="en-US" altLang="zh-CN" dirty="0"/>
              </a:p>
              <a:p>
                <a:r>
                  <a:rPr lang="zh-CN" altLang="en-US" dirty="0"/>
                  <a:t>存储端</a:t>
                </a:r>
                <a:r>
                  <a:rPr lang="en-US" altLang="zh-CN" dirty="0"/>
                  <a:t>1</a:t>
                </a:r>
              </a:p>
              <a:p>
                <a:pPr lvl="1"/>
                <a:r>
                  <a:rPr lang="zh-CN" altLang="en-US" b="0" dirty="0">
                    <a:solidFill>
                      <a:srgbClr val="FF0000"/>
                    </a:solidFill>
                  </a:rPr>
                  <a:t>请求合约获得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zh-CN" altLang="en-US" dirty="0">
                    <a:solidFill>
                      <a:srgbClr val="FF0000"/>
                    </a:solidFill>
                  </a:rPr>
                  <a:t>生成搜索证明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𝑠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𝑅𝑒𝑠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𝑃𝑆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dirty="0"/>
                  <a:t>，并上链。</a:t>
                </a:r>
                <a:endParaRPr lang="en-US" altLang="zh-CN" dirty="0"/>
              </a:p>
              <a:p>
                <a:r>
                  <a:rPr lang="zh-CN" altLang="en-US" dirty="0"/>
                  <a:t>存储端</a:t>
                </a:r>
                <a:r>
                  <a:rPr lang="en-US" altLang="zh-CN" dirty="0"/>
                  <a:t>2</a:t>
                </a:r>
              </a:p>
              <a:p>
                <a:pPr lvl="1"/>
                <a:r>
                  <a:rPr lang="zh-CN" altLang="en-US" dirty="0">
                    <a:solidFill>
                      <a:srgbClr val="FF0000"/>
                    </a:solidFill>
                  </a:rPr>
                  <a:t>获得搜索证明</a:t>
                </a:r>
                <a:r>
                  <a:rPr lang="zh-CN" altLang="en-US" dirty="0"/>
                  <a:t>，并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验证是否正确</a:t>
                </a:r>
                <a:r>
                  <a:rPr lang="zh-CN" altLang="en-US" dirty="0"/>
                  <a:t>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返回</a:t>
                </a:r>
                <a:r>
                  <a:rPr lang="en-US" altLang="zh-CN" dirty="0">
                    <a:solidFill>
                      <a:srgbClr val="FF0000"/>
                    </a:solidFill>
                  </a:rPr>
                  <a:t>0/1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，并上链</a:t>
                </a:r>
                <a:r>
                  <a:rPr lang="zh-CN" altLang="en-US" dirty="0"/>
                  <a:t>。</a:t>
                </a:r>
                <a:endParaRPr lang="en-US" altLang="zh-CN" dirty="0"/>
              </a:p>
            </p:txBody>
          </p:sp>
        </mc:Choice>
        <mc:Fallback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0" t="-26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加密搜索流程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F4486AF-3D06-7CFF-3A5C-F1A56769D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887" y="2646871"/>
            <a:ext cx="3814419" cy="233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086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992909"/>
          </a:xfrm>
        </p:spPr>
        <p:txBody>
          <a:bodyPr>
            <a:normAutofit lnSpcReduction="10000"/>
          </a:bodyPr>
          <a:lstStyle/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dirty="0">
                <a:solidFill>
                  <a:srgbClr val="FF0000"/>
                </a:solidFill>
              </a:rPr>
              <a:t>Step1</a:t>
            </a:r>
            <a:r>
              <a:rPr lang="zh-CN" altLang="en-US" dirty="0"/>
              <a:t>：通过请求搜索的</a:t>
            </a:r>
            <a:r>
              <a:rPr lang="zh-CN" altLang="en-US" dirty="0">
                <a:solidFill>
                  <a:schemeClr val="accent1"/>
                </a:solidFill>
              </a:rPr>
              <a:t>状态</a:t>
            </a:r>
            <a:br>
              <a:rPr lang="en-US" altLang="zh-CN" dirty="0"/>
            </a:br>
            <a:r>
              <a:rPr lang="zh-CN" altLang="en-US" dirty="0"/>
              <a:t>与</a:t>
            </a:r>
            <a:r>
              <a:rPr lang="zh-CN" altLang="en-US" dirty="0">
                <a:solidFill>
                  <a:schemeClr val="accent1"/>
                </a:solidFill>
              </a:rPr>
              <a:t>搜索</a:t>
            </a:r>
            <a:r>
              <a:rPr lang="en-US" altLang="zh-CN" dirty="0">
                <a:solidFill>
                  <a:schemeClr val="accent1"/>
                </a:solidFill>
              </a:rPr>
              <a:t>token</a:t>
            </a:r>
            <a:r>
              <a:rPr lang="en-US" altLang="zh-CN" dirty="0"/>
              <a:t>,</a:t>
            </a:r>
            <a:r>
              <a:rPr lang="zh-CN" altLang="en-US" dirty="0"/>
              <a:t>得到</a:t>
            </a:r>
            <a:r>
              <a:rPr lang="zh-CN" altLang="en-US" dirty="0">
                <a:solidFill>
                  <a:schemeClr val="accent1"/>
                </a:solidFill>
              </a:rPr>
              <a:t>关键词前一</a:t>
            </a:r>
            <a:br>
              <a:rPr lang="en-US" altLang="zh-CN" dirty="0">
                <a:solidFill>
                  <a:schemeClr val="accent1"/>
                </a:solidFill>
              </a:rPr>
            </a:br>
            <a:r>
              <a:rPr lang="zh-CN" altLang="en-US" dirty="0">
                <a:solidFill>
                  <a:schemeClr val="accent1"/>
                </a:solidFill>
              </a:rPr>
              <a:t>个状态</a:t>
            </a:r>
            <a:r>
              <a:rPr lang="zh-CN" altLang="en-US" dirty="0"/>
              <a:t>与对应的</a:t>
            </a:r>
            <a:r>
              <a:rPr lang="zh-CN" altLang="en-US" dirty="0">
                <a:solidFill>
                  <a:schemeClr val="accent1"/>
                </a:solidFill>
              </a:rPr>
              <a:t>文件</a:t>
            </a:r>
            <a:r>
              <a:rPr lang="en-US" altLang="zh-CN" dirty="0">
                <a:solidFill>
                  <a:schemeClr val="accent1"/>
                </a:solidFill>
              </a:rPr>
              <a:t>ID</a:t>
            </a:r>
            <a:r>
              <a:rPr lang="zh-CN" altLang="en-US" dirty="0">
                <a:solidFill>
                  <a:schemeClr val="accent1"/>
                </a:solidFill>
              </a:rPr>
              <a:t>集合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en-US" altLang="zh-CN" dirty="0"/>
              <a:t>Step2</a:t>
            </a:r>
            <a:r>
              <a:rPr lang="zh-CN" altLang="en-US" dirty="0"/>
              <a:t>：计算中间的证明参数，</a:t>
            </a:r>
            <a:br>
              <a:rPr lang="en-US" altLang="zh-CN" dirty="0"/>
            </a:br>
            <a:r>
              <a:rPr lang="zh-CN" altLang="en-US" dirty="0"/>
              <a:t>用于后面搜索证明的验证步</a:t>
            </a:r>
            <a:br>
              <a:rPr lang="en-US" altLang="zh-CN" dirty="0"/>
            </a:br>
            <a:r>
              <a:rPr lang="zh-CN" altLang="en-US" dirty="0"/>
              <a:t>骤。</a:t>
            </a:r>
            <a:endParaRPr lang="en-US" altLang="zh-CN" dirty="0"/>
          </a:p>
          <a:p>
            <a:r>
              <a:rPr lang="en-US" altLang="zh-CN" dirty="0"/>
              <a:t>Step3</a:t>
            </a:r>
            <a:r>
              <a:rPr lang="zh-CN" altLang="en-US" dirty="0"/>
              <a:t>：控制关键词索引状态</a:t>
            </a:r>
            <a:br>
              <a:rPr lang="en-US" altLang="zh-CN" dirty="0"/>
            </a:br>
            <a:r>
              <a:rPr lang="zh-CN" altLang="en-US" dirty="0"/>
              <a:t>链的搜索结果，关键词的一</a:t>
            </a:r>
            <a:br>
              <a:rPr lang="en-US" altLang="zh-CN" dirty="0"/>
            </a:br>
            <a:r>
              <a:rPr lang="zh-CN" altLang="en-US" dirty="0"/>
              <a:t>个状态对应一个文件。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搜索证明生成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3F40F81-9536-6499-CC36-4FF187D8B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229" y="1825625"/>
            <a:ext cx="3794612" cy="49929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CF24406-C27E-A7C8-4A30-7C2AA3D4E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85" y="1782973"/>
            <a:ext cx="4400444" cy="153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3596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计算中间参数</a:t>
                </a:r>
                <a:endParaRPr lang="en-US" altLang="zh-CN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altLang="zh-CN" dirty="0"/>
              </a:p>
              <a:p>
                <a:r>
                  <a:rPr lang="zh-CN" altLang="en-US" dirty="0"/>
                  <a:t>计算双线性配对的结果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相等则说明验证结果正</a:t>
                </a:r>
                <a:br>
                  <a:rPr lang="en-US" altLang="zh-CN" dirty="0"/>
                </a:br>
                <a:r>
                  <a:rPr lang="zh-CN" altLang="en-US" dirty="0"/>
                  <a:t>确。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不相等说明计算结果错</a:t>
                </a:r>
                <a:br>
                  <a:rPr lang="en-US" altLang="zh-CN" dirty="0"/>
                </a:br>
                <a:r>
                  <a:rPr lang="zh-CN" altLang="en-US" dirty="0"/>
                  <a:t>误。</a:t>
                </a:r>
                <a:endParaRPr lang="en-US" altLang="zh-CN" dirty="0"/>
              </a:p>
              <a:p>
                <a:endParaRPr lang="en-US" altLang="zh-CN" dirty="0"/>
              </a:p>
            </p:txBody>
          </p:sp>
        </mc:Choice>
        <mc:Fallback>
          <p:sp>
            <p:nvSpPr>
              <p:cNvPr id="11" name="内容占位符 10">
                <a:extLst>
                  <a:ext uri="{FF2B5EF4-FFF2-40B4-BE49-F238E27FC236}">
                    <a16:creationId xmlns:a16="http://schemas.microsoft.com/office/drawing/2014/main" id="{A13EE26B-CB8B-B743-C433-841589786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搜索证明验证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其他存储节点进行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62BD64A-4815-D8DA-1770-3E7625B46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107" y="1875258"/>
            <a:ext cx="3953427" cy="275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241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搜索证明验证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理论的正确性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4044F90-BF34-938D-5FCC-C13223E0B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62" y="1825625"/>
            <a:ext cx="4933402" cy="438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572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方案实现</a:t>
            </a:r>
          </a:p>
        </p:txBody>
      </p:sp>
      <p:pic>
        <p:nvPicPr>
          <p:cNvPr id="10" name="内容占位符 9">
            <a:extLst>
              <a:ext uri="{FF2B5EF4-FFF2-40B4-BE49-F238E27FC236}">
                <a16:creationId xmlns:a16="http://schemas.microsoft.com/office/drawing/2014/main" id="{9BA4EC3B-2333-597E-F63E-40B60A7D1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2180" y="3980113"/>
            <a:ext cx="3381847" cy="1810003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文件审计证明生成</a:t>
            </a:r>
            <a:r>
              <a:rPr lang="en-US" altLang="zh-CN" sz="2400" dirty="0">
                <a:solidFill>
                  <a:schemeClr val="bg1"/>
                </a:solidFill>
              </a:rPr>
              <a:t>+</a:t>
            </a:r>
            <a:r>
              <a:rPr lang="zh-CN" altLang="en-US" sz="2400" dirty="0">
                <a:solidFill>
                  <a:schemeClr val="bg1"/>
                </a:solidFill>
              </a:rPr>
              <a:t>验证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A9167F9-EDCA-2C2E-A8E3-7619FE2FE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794597"/>
            <a:ext cx="3772426" cy="1829055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B193D533-5D83-376E-68E2-D3C0AE314EA0}"/>
              </a:ext>
            </a:extLst>
          </p:cNvPr>
          <p:cNvSpPr txBox="1"/>
          <p:nvPr/>
        </p:nvSpPr>
        <p:spPr>
          <a:xfrm>
            <a:off x="4074027" y="1907634"/>
            <a:ext cx="438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 ：证明与公钥信息</a:t>
            </a:r>
            <a:endParaRPr lang="en-US" altLang="zh-CN" dirty="0"/>
          </a:p>
          <a:p>
            <a:r>
              <a:rPr lang="zh-CN" altLang="en-US" dirty="0"/>
              <a:t>输出：</a:t>
            </a:r>
            <a:r>
              <a:rPr lang="en-US" altLang="zh-CN" dirty="0"/>
              <a:t>Proof</a:t>
            </a:r>
            <a:r>
              <a:rPr lang="zh-CN" altLang="en-US" dirty="0"/>
              <a:t>，供双线性配对函数计算的中间参数。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FD8C788-BF7E-7A06-C18D-7BBD887195E1}"/>
              </a:ext>
            </a:extLst>
          </p:cNvPr>
          <p:cNvSpPr txBox="1"/>
          <p:nvPr/>
        </p:nvSpPr>
        <p:spPr>
          <a:xfrm>
            <a:off x="4074027" y="4027037"/>
            <a:ext cx="3884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其他服务端验证并返回</a:t>
            </a:r>
            <a:endParaRPr lang="en-US" altLang="zh-CN" dirty="0"/>
          </a:p>
          <a:p>
            <a:r>
              <a:rPr lang="zh-CN" altLang="en-US" dirty="0"/>
              <a:t>输入 ：证明与公钥信息</a:t>
            </a:r>
            <a:endParaRPr lang="en-US" altLang="zh-CN" dirty="0"/>
          </a:p>
          <a:p>
            <a:r>
              <a:rPr lang="zh-CN" altLang="en-US" dirty="0"/>
              <a:t>输出：配对验证结果。</a:t>
            </a:r>
          </a:p>
        </p:txBody>
      </p:sp>
    </p:spTree>
    <p:extLst>
      <p:ext uri="{BB962C8B-B14F-4D97-AF65-F5344CB8AC3E}">
        <p14:creationId xmlns:p14="http://schemas.microsoft.com/office/powerpoint/2010/main" val="12752502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437C2CDC-A940-7CC2-F410-CECD2F66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CN" altLang="en-US" dirty="0"/>
              <a:t>实验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A13EE26B-CB8B-B743-C433-841589786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密码学知识</a:t>
            </a:r>
            <a:endParaRPr lang="en-US" altLang="zh-CN" dirty="0"/>
          </a:p>
          <a:p>
            <a:r>
              <a:rPr lang="zh-CN" altLang="en-US" dirty="0"/>
              <a:t>双线性配对</a:t>
            </a:r>
            <a:endParaRPr lang="en-US" altLang="zh-CN" dirty="0"/>
          </a:p>
          <a:p>
            <a:pPr lvl="1"/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DD56A8-3B03-21D9-ABFC-E81760ADEDC1}"/>
              </a:ext>
            </a:extLst>
          </p:cNvPr>
          <p:cNvSpPr/>
          <p:nvPr/>
        </p:nvSpPr>
        <p:spPr>
          <a:xfrm>
            <a:off x="628650" y="1321308"/>
            <a:ext cx="788670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2400" dirty="0">
                <a:solidFill>
                  <a:schemeClr val="bg1"/>
                </a:solidFill>
              </a:rPr>
              <a:t>文件审计证明验证</a:t>
            </a:r>
            <a:endParaRPr lang="zh-CN" altLang="en-US" sz="24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4CDA36-FADF-2B1D-E75E-6B10290F473A}"/>
              </a:ext>
            </a:extLst>
          </p:cNvPr>
          <p:cNvSpPr txBox="1"/>
          <p:nvPr/>
        </p:nvSpPr>
        <p:spPr>
          <a:xfrm>
            <a:off x="8145453" y="6361532"/>
            <a:ext cx="314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205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81ABA-FB76-315A-E5A9-263578AEB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A461A439-6360-A722-11C6-0AE0FA81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66057"/>
            <a:ext cx="7886700" cy="725714"/>
          </a:xfrm>
        </p:spPr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3C227B6D-D82B-0616-E78D-2CDB8B74D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02279"/>
            <a:ext cx="7886700" cy="1377950"/>
          </a:xfrm>
        </p:spPr>
        <p:txBody>
          <a:bodyPr/>
          <a:lstStyle/>
          <a:p>
            <a:r>
              <a:rPr lang="zh-CN" altLang="en-US" dirty="0"/>
              <a:t>内容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B373E26-97B3-D6FE-3033-28F1707775C8}"/>
              </a:ext>
            </a:extLst>
          </p:cNvPr>
          <p:cNvSpPr/>
          <p:nvPr/>
        </p:nvSpPr>
        <p:spPr>
          <a:xfrm>
            <a:off x="628650" y="1291771"/>
            <a:ext cx="394335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</a:rPr>
              <a:t>本单小节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本页题目</a:t>
            </a:r>
            <a:endParaRPr lang="zh-CN" altLang="en-US" sz="2400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40F8DE-C116-8900-E6C5-C56176905BCE}"/>
              </a:ext>
            </a:extLst>
          </p:cNvPr>
          <p:cNvSpPr/>
          <p:nvPr/>
        </p:nvSpPr>
        <p:spPr>
          <a:xfrm>
            <a:off x="628650" y="3512457"/>
            <a:ext cx="3943350" cy="46166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</a:rPr>
              <a:t>本单小节</a:t>
            </a:r>
            <a:r>
              <a:rPr lang="en-US" altLang="zh-CN" sz="2400" dirty="0">
                <a:solidFill>
                  <a:schemeClr val="bg1"/>
                </a:solidFill>
              </a:rPr>
              <a:t>/</a:t>
            </a:r>
            <a:r>
              <a:rPr lang="zh-CN" altLang="en-US" sz="2400" dirty="0">
                <a:solidFill>
                  <a:schemeClr val="bg1"/>
                </a:solidFill>
              </a:rPr>
              <a:t>本页题目</a:t>
            </a:r>
            <a:endParaRPr lang="zh-CN" altLang="en-US" sz="2400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964D27-E81B-7E19-D0EE-852788655C2F}"/>
              </a:ext>
            </a:extLst>
          </p:cNvPr>
          <p:cNvSpPr/>
          <p:nvPr/>
        </p:nvSpPr>
        <p:spPr>
          <a:xfrm>
            <a:off x="628650" y="4039436"/>
            <a:ext cx="8113593" cy="524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2400" dirty="0">
                <a:latin typeface="华文宋体" panose="02010600040101010101" pitchFamily="2" charset="-122"/>
                <a:ea typeface="华文宋体" panose="02010600040101010101" pitchFamily="2" charset="-122"/>
              </a:rPr>
              <a:t>内容</a:t>
            </a:r>
            <a:r>
              <a:rPr lang="en-US" altLang="zh-CN" sz="2200" dirty="0">
                <a:latin typeface="华文宋体" panose="02010600040101010101" pitchFamily="2" charset="-122"/>
                <a:ea typeface="华文宋体" panose="02010600040101010101" pitchFamily="2" charset="-122"/>
              </a:rPr>
              <a:t>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54D28C0-13FF-26C2-9DAB-6CF3B3BC29BC}"/>
              </a:ext>
            </a:extLst>
          </p:cNvPr>
          <p:cNvSpPr txBox="1"/>
          <p:nvPr/>
        </p:nvSpPr>
        <p:spPr>
          <a:xfrm>
            <a:off x="8173503" y="6367141"/>
            <a:ext cx="397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6982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95325" y="549275"/>
            <a:ext cx="7693300" cy="57594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695325" y="2290226"/>
            <a:ext cx="769330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b="1" dirty="0">
                <a:solidFill>
                  <a:schemeClr val="bg1"/>
                </a:solidFill>
              </a:rPr>
              <a:t>THANKS</a:t>
            </a:r>
          </a:p>
          <a:p>
            <a:pPr algn="ctr"/>
            <a:r>
              <a:rPr lang="zh-CN" altLang="en-US" sz="5400" b="1" dirty="0">
                <a:solidFill>
                  <a:schemeClr val="bg1"/>
                </a:solidFill>
              </a:rPr>
              <a:t>欢迎批评指正！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Scale>
                                      <p:cBhvr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3" grpId="1"/>
    </p:bldLst>
  </p:timing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汇报模板.pptx" id="{9D8FFBCB-747C-4EE8-A333-17F6E0F65EA7}" vid="{3C429314-C835-49BE-9457-D471D7FDA3C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汇报模板</Template>
  <TotalTime>1986</TotalTime>
  <Words>1207</Words>
  <Application>Microsoft Office PowerPoint</Application>
  <PresentationFormat>全屏显示(4:3)</PresentationFormat>
  <Paragraphs>178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0" baseType="lpstr">
      <vt:lpstr>等线</vt:lpstr>
      <vt:lpstr>华文仿宋</vt:lpstr>
      <vt:lpstr>华文宋体</vt:lpstr>
      <vt:lpstr>微软雅黑</vt:lpstr>
      <vt:lpstr>Arial</vt:lpstr>
      <vt:lpstr>Calibri</vt:lpstr>
      <vt:lpstr>Cambria Math</vt:lpstr>
      <vt:lpstr>Times New Roman</vt:lpstr>
      <vt:lpstr>Office 主题​​</vt:lpstr>
      <vt:lpstr>PowerPoint 演示文稿</vt:lpstr>
      <vt:lpstr>PowerPoint 演示文稿</vt:lpstr>
      <vt:lpstr>背景知识</vt:lpstr>
      <vt:lpstr>背景知识</vt:lpstr>
      <vt:lpstr>背景知识</vt:lpstr>
      <vt:lpstr>背景知识</vt:lpstr>
      <vt:lpstr>方案创新</vt:lpstr>
      <vt:lpstr>方案创新</vt:lpstr>
      <vt:lpstr>方案实现</vt:lpstr>
      <vt:lpstr>方案实现</vt:lpstr>
      <vt:lpstr>方案实现</vt:lpstr>
      <vt:lpstr>方案实现</vt:lpstr>
      <vt:lpstr>方案实现</vt:lpstr>
      <vt:lpstr>方案实现</vt:lpstr>
      <vt:lpstr>方案实现</vt:lpstr>
      <vt:lpstr>方案实现</vt:lpstr>
      <vt:lpstr>方案实现</vt:lpstr>
      <vt:lpstr>方案实现</vt:lpstr>
      <vt:lpstr>实验</vt:lpstr>
      <vt:lpstr>研究背景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prelearn z</dc:creator>
  <cp:lastModifiedBy>Administrator</cp:lastModifiedBy>
  <cp:revision>679</cp:revision>
  <dcterms:created xsi:type="dcterms:W3CDTF">2025-11-25T07:13:16Z</dcterms:created>
  <dcterms:modified xsi:type="dcterms:W3CDTF">2025-11-29T11:40:33Z</dcterms:modified>
</cp:coreProperties>
</file>