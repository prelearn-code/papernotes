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sldIdLst>
    <p:sldId id="256" r:id="rId2"/>
    <p:sldId id="274" r:id="rId3"/>
    <p:sldId id="257" r:id="rId4"/>
    <p:sldId id="276" r:id="rId5"/>
    <p:sldId id="277" r:id="rId6"/>
    <p:sldId id="290" r:id="rId7"/>
    <p:sldId id="278" r:id="rId8"/>
    <p:sldId id="281" r:id="rId9"/>
    <p:sldId id="279" r:id="rId10"/>
    <p:sldId id="291" r:id="rId11"/>
    <p:sldId id="280" r:id="rId12"/>
    <p:sldId id="285" r:id="rId13"/>
    <p:sldId id="282" r:id="rId14"/>
    <p:sldId id="283" r:id="rId15"/>
    <p:sldId id="286" r:id="rId16"/>
    <p:sldId id="288" r:id="rId17"/>
    <p:sldId id="284" r:id="rId18"/>
    <p:sldId id="289" r:id="rId19"/>
    <p:sldId id="287" r:id="rId20"/>
    <p:sldId id="292" r:id="rId21"/>
    <p:sldId id="293" r:id="rId22"/>
    <p:sldId id="27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9CFD8-CAB8-48EB-8F6E-38F2E3A6F7FF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CF644-AC1C-4DF8-AD4F-FB45846C44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47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480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>
              <a:defRPr sz="2200">
                <a:latin typeface="华文宋体" panose="02010600040101010101" pitchFamily="2" charset="-122"/>
                <a:ea typeface="华文宋体" panose="02010600040101010101" pitchFamily="2" charset="-122"/>
              </a:defRPr>
            </a:lvl2pPr>
            <a:lvl3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3pPr>
            <a:lvl4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4pPr>
            <a:lvl5pPr>
              <a:defRPr>
                <a:latin typeface="华文宋体" panose="02010600040101010101" pitchFamily="2" charset="-122"/>
                <a:ea typeface="华文宋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E70A7F-2326-E46F-3A0B-59E85AE05B16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854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64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F71F21-A047-5ECC-7DF6-E96809032658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8032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4545AC-89F2-4334-AB3F-97DC351DEA75}"/>
              </a:ext>
            </a:extLst>
          </p:cNvPr>
          <p:cNvSpPr/>
          <p:nvPr userDrawn="1"/>
        </p:nvSpPr>
        <p:spPr>
          <a:xfrm>
            <a:off x="8105916" y="6356350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5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FD7AF2-C9A5-A24D-F5E8-013481917964}"/>
              </a:ext>
            </a:extLst>
          </p:cNvPr>
          <p:cNvSpPr/>
          <p:nvPr userDrawn="1"/>
        </p:nvSpPr>
        <p:spPr>
          <a:xfrm>
            <a:off x="8105916" y="6356351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3094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E83FD1-55F5-1613-634F-4965941B4B78}"/>
              </a:ext>
            </a:extLst>
          </p:cNvPr>
          <p:cNvSpPr/>
          <p:nvPr userDrawn="1"/>
        </p:nvSpPr>
        <p:spPr>
          <a:xfrm>
            <a:off x="8105916" y="6356350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9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1691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4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华文宋体" panose="02010600040101010101" pitchFamily="2" charset="-122"/>
                <a:ea typeface="华文宋体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43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271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654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75A95-381A-4B2F-9824-DE0150AA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123931-85FF-9BF6-EB02-503378FB6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1B098-358D-7411-F984-6AE7E443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09709A-454B-E727-0DD2-C0FA04E728C5}"/>
              </a:ext>
            </a:extLst>
          </p:cNvPr>
          <p:cNvSpPr/>
          <p:nvPr userDrawn="1"/>
        </p:nvSpPr>
        <p:spPr>
          <a:xfrm>
            <a:off x="1143000" y="2275029"/>
            <a:ext cx="6858000" cy="1249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3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571144-0C5A-4DD7-57CC-C65069F57D72}"/>
              </a:ext>
            </a:extLst>
          </p:cNvPr>
          <p:cNvSpPr/>
          <p:nvPr userDrawn="1"/>
        </p:nvSpPr>
        <p:spPr>
          <a:xfrm>
            <a:off x="1143000" y="3524765"/>
            <a:ext cx="6858000" cy="901185"/>
          </a:xfrm>
          <a:prstGeom prst="rect">
            <a:avLst/>
          </a:prstGeom>
          <a:solidFill>
            <a:srgbClr val="45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DBA9E07-CC5A-8801-10F6-C78F22CC295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386026" y="2689391"/>
            <a:ext cx="416718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2501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86549" y="300253"/>
            <a:ext cx="286603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/>
        </p:nvSpPr>
        <p:spPr>
          <a:xfrm>
            <a:off x="8673152" y="66716"/>
            <a:ext cx="23201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 userDrawn="1"/>
        </p:nvSpPr>
        <p:spPr>
          <a:xfrm>
            <a:off x="8270542" y="6492877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57376" y="99084"/>
            <a:ext cx="56649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latin typeface="微软雅黑" panose="020B0503020204020204" pitchFamily="34" charset="-122"/>
              </a:rPr>
              <a:t> </a:t>
            </a: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11F6D53E-FB06-F6A5-0ACA-0AE3FE87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4906-7EA5-408D-A778-BE10735DF782}" type="datetime1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B6799927-B33D-D742-BB4C-B55C7B94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CE9B615-29E0-8068-0054-374F9A7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34997-B2A8-4266-95AB-F24DA812A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07EABF-EFB5-FB45-CC64-2E295E3678DF}"/>
              </a:ext>
            </a:extLst>
          </p:cNvPr>
          <p:cNvSpPr/>
          <p:nvPr userDrawn="1"/>
        </p:nvSpPr>
        <p:spPr>
          <a:xfrm>
            <a:off x="695325" y="549275"/>
            <a:ext cx="769330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5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8386549" y="300253"/>
            <a:ext cx="286603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矩形 4"/>
          <p:cNvSpPr/>
          <p:nvPr userDrawn="1"/>
        </p:nvSpPr>
        <p:spPr>
          <a:xfrm>
            <a:off x="8673152" y="66716"/>
            <a:ext cx="23201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 5"/>
          <p:cNvSpPr/>
          <p:nvPr userDrawn="1"/>
        </p:nvSpPr>
        <p:spPr>
          <a:xfrm>
            <a:off x="8270542" y="6492877"/>
            <a:ext cx="409434" cy="365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57376" y="99084"/>
            <a:ext cx="56649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latin typeface="微软雅黑" panose="020B0503020204020204" pitchFamily="34" charset="-122"/>
              </a:rPr>
              <a:t> </a:t>
            </a:r>
          </a:p>
        </p:txBody>
      </p:sp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11F6D53E-FB06-F6A5-0ACA-0AE3FE87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C4906-7EA5-408D-A778-BE10735DF782}" type="datetime1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B6799927-B33D-D742-BB4C-B55C7B94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CE9B615-29E0-8068-0054-374F9A7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34997-B2A8-4266-95AB-F24DA812A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88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4B063-6D8F-4781-B5C5-AE4C2C0FD4A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884AD-98D5-4665-B023-133B10180F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BD27D18-184A-5FD2-9E12-924D48D9B4C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147"/>
            <a:ext cx="2057400" cy="46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4E5C64-BFB2-62F4-2930-32F90F3CBE57}"/>
              </a:ext>
            </a:extLst>
          </p:cNvPr>
          <p:cNvSpPr/>
          <p:nvPr userDrawn="1"/>
        </p:nvSpPr>
        <p:spPr>
          <a:xfrm>
            <a:off x="8519432" y="294359"/>
            <a:ext cx="276549" cy="262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57084E-5966-4DEB-C5F6-68E554143091}"/>
              </a:ext>
            </a:extLst>
          </p:cNvPr>
          <p:cNvSpPr/>
          <p:nvPr userDrawn="1"/>
        </p:nvSpPr>
        <p:spPr>
          <a:xfrm>
            <a:off x="8795981" y="60822"/>
            <a:ext cx="225371" cy="233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12840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6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华文宋体" panose="02010600040101010101" pitchFamily="2" charset="-122"/>
          <a:ea typeface="华文宋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4A731B-B856-2D35-D4F6-4D6D89931757}"/>
              </a:ext>
            </a:extLst>
          </p:cNvPr>
          <p:cNvSpPr txBox="1"/>
          <p:nvPr/>
        </p:nvSpPr>
        <p:spPr>
          <a:xfrm>
            <a:off x="1067581" y="2186707"/>
            <a:ext cx="70088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Enabling Verifiable Search and Integrity Auditing in Encrypted Decentralized Storage Using One Proof</a:t>
            </a:r>
            <a:endParaRPr lang="zh-CN" altLang="en-US" sz="3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7F0FAA-A0D8-0B35-83DA-64674B72AEF3}"/>
              </a:ext>
            </a:extLst>
          </p:cNvPr>
          <p:cNvSpPr txBox="1"/>
          <p:nvPr/>
        </p:nvSpPr>
        <p:spPr>
          <a:xfrm>
            <a:off x="1471516" y="3564485"/>
            <a:ext cx="5699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加密去中心化存储环境中的可验证搜索与完整性审计方案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92C390-F2A0-91A1-943A-6F4905328296}"/>
              </a:ext>
            </a:extLst>
          </p:cNvPr>
          <p:cNvSpPr txBox="1"/>
          <p:nvPr/>
        </p:nvSpPr>
        <p:spPr>
          <a:xfrm>
            <a:off x="2933949" y="5773260"/>
            <a:ext cx="2774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汇报人：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796ED-2B51-7E8B-E990-834429676788}"/>
              </a:ext>
            </a:extLst>
          </p:cNvPr>
          <p:cNvSpPr txBox="1"/>
          <p:nvPr/>
        </p:nvSpPr>
        <p:spPr>
          <a:xfrm>
            <a:off x="7625276" y="5706967"/>
            <a:ext cx="117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时间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605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456" y="0"/>
            <a:ext cx="20765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文本框 4"/>
          <p:cNvSpPr txBox="1"/>
          <p:nvPr/>
        </p:nvSpPr>
        <p:spPr>
          <a:xfrm>
            <a:off x="1278325" y="2749323"/>
            <a:ext cx="7194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102025" y="1592080"/>
            <a:ext cx="2853433" cy="646331"/>
            <a:chOff x="8098970" y="1684028"/>
            <a:chExt cx="3416755" cy="861774"/>
          </a:xfrm>
        </p:grpSpPr>
        <p:grpSp>
          <p:nvGrpSpPr>
            <p:cNvPr id="15" name="组合 14"/>
            <p:cNvGrpSpPr/>
            <p:nvPr/>
          </p:nvGrpSpPr>
          <p:grpSpPr>
            <a:xfrm>
              <a:off x="9066169" y="1684028"/>
              <a:ext cx="2449556" cy="861774"/>
              <a:chOff x="8987701" y="1373760"/>
              <a:chExt cx="2449556" cy="861774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9042399" y="137376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背景知识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987701" y="1835425"/>
                <a:ext cx="2449556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 Acknowledge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8098970" y="1685526"/>
              <a:ext cx="899886" cy="829499"/>
              <a:chOff x="8098970" y="1685526"/>
              <a:chExt cx="899886" cy="829499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8098970" y="1714806"/>
                <a:ext cx="899886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8134913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4955458" y="3055826"/>
            <a:ext cx="2827940" cy="1142621"/>
            <a:chOff x="3873413" y="4736171"/>
            <a:chExt cx="3434257" cy="1523495"/>
          </a:xfrm>
        </p:grpSpPr>
        <p:grpSp>
          <p:nvGrpSpPr>
            <p:cNvPr id="22" name="组合 21"/>
            <p:cNvGrpSpPr/>
            <p:nvPr/>
          </p:nvGrpSpPr>
          <p:grpSpPr>
            <a:xfrm>
              <a:off x="4912812" y="4736171"/>
              <a:ext cx="2394858" cy="892551"/>
              <a:chOff x="4818742" y="3526390"/>
              <a:chExt cx="2394858" cy="892551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4818742" y="352639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实验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818742" y="4018832"/>
                <a:ext cx="23948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873413" y="4753058"/>
              <a:ext cx="899886" cy="1506608"/>
              <a:chOff x="3873413" y="4753058"/>
              <a:chExt cx="899886" cy="1506608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3873413" y="4782338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3909356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2101142" y="4512919"/>
            <a:ext cx="2703650" cy="1107996"/>
            <a:chOff x="8098970" y="4751560"/>
            <a:chExt cx="3416755" cy="1508106"/>
          </a:xfrm>
        </p:grpSpPr>
        <p:grpSp>
          <p:nvGrpSpPr>
            <p:cNvPr id="29" name="组合 28"/>
            <p:cNvGrpSpPr/>
            <p:nvPr/>
          </p:nvGrpSpPr>
          <p:grpSpPr>
            <a:xfrm>
              <a:off x="9120867" y="4751560"/>
              <a:ext cx="2394858" cy="870109"/>
              <a:chOff x="9042399" y="3526390"/>
              <a:chExt cx="2394858" cy="870109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9042399" y="3526390"/>
                <a:ext cx="2394858" cy="56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方案缺陷</a:t>
                </a: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042399" y="3988054"/>
                <a:ext cx="2394858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Flaws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8098970" y="4753058"/>
              <a:ext cx="899886" cy="1506608"/>
              <a:chOff x="8098970" y="4753058"/>
              <a:chExt cx="899886" cy="1506608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8098970" y="4782338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8134913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4955458" y="1531172"/>
            <a:ext cx="2698915" cy="1142621"/>
            <a:chOff x="3873413" y="3187016"/>
            <a:chExt cx="3434257" cy="1523495"/>
          </a:xfrm>
        </p:grpSpPr>
        <p:grpSp>
          <p:nvGrpSpPr>
            <p:cNvPr id="36" name="组合 35"/>
            <p:cNvGrpSpPr/>
            <p:nvPr/>
          </p:nvGrpSpPr>
          <p:grpSpPr>
            <a:xfrm>
              <a:off x="4912811" y="3187016"/>
              <a:ext cx="2394859" cy="892552"/>
              <a:chOff x="4818741" y="3526390"/>
              <a:chExt cx="2394859" cy="892552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4818742" y="3526390"/>
                <a:ext cx="239485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方案创新</a:t>
                </a: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4818741" y="4018831"/>
                <a:ext cx="2394857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Innovation</a:t>
                </a:r>
                <a:endParaRPr lang="zh-CN" altLang="en-US" sz="1350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3873413" y="3203903"/>
              <a:ext cx="899886" cy="1506608"/>
              <a:chOff x="3873413" y="3203903"/>
              <a:chExt cx="899886" cy="1506608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3873413" y="3233183"/>
                <a:ext cx="8998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356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2048627" y="3035591"/>
            <a:ext cx="2728886" cy="646331"/>
            <a:chOff x="8068576" y="3202405"/>
            <a:chExt cx="3447149" cy="861774"/>
          </a:xfrm>
        </p:grpSpPr>
        <p:grpSp>
          <p:nvGrpSpPr>
            <p:cNvPr id="43" name="组合 42"/>
            <p:cNvGrpSpPr/>
            <p:nvPr/>
          </p:nvGrpSpPr>
          <p:grpSpPr>
            <a:xfrm>
              <a:off x="9120867" y="3202405"/>
              <a:ext cx="2394858" cy="861774"/>
              <a:chOff x="9042399" y="3526390"/>
              <a:chExt cx="2394858" cy="861774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9042399" y="3526390"/>
                <a:ext cx="2394858" cy="553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100" b="1" dirty="0">
                    <a:latin typeface="微软雅黑" panose="020B0503020204020204" pitchFamily="34" charset="-122"/>
                  </a:rPr>
                  <a:t>方案实现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9042399" y="3988055"/>
                <a:ext cx="2394858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350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Implementation</a:t>
                </a: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068576" y="3203903"/>
              <a:ext cx="930281" cy="829499"/>
              <a:chOff x="8068576" y="3203903"/>
              <a:chExt cx="930281" cy="829499"/>
            </a:xfrm>
          </p:grpSpPr>
          <p:sp>
            <p:nvSpPr>
              <p:cNvPr id="45" name="文本框 44"/>
              <p:cNvSpPr txBox="1"/>
              <p:nvPr/>
            </p:nvSpPr>
            <p:spPr>
              <a:xfrm>
                <a:off x="8068576" y="3233183"/>
                <a:ext cx="930281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300" b="1" dirty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33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 p14:presetBounceEnd="4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 p14:presetBounceEnd="40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bldLvl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bldLvl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13275"/>
          </a:xfrm>
        </p:spPr>
        <p:txBody>
          <a:bodyPr/>
          <a:lstStyle/>
          <a:p>
            <a:r>
              <a:rPr lang="zh-CN" altLang="en-US" dirty="0"/>
              <a:t>背景：随着区块链技术的发展，新型 </a:t>
            </a:r>
            <a:r>
              <a:rPr lang="zh-CN" altLang="en-US" b="1" dirty="0"/>
              <a:t>去中心化存储网络（</a:t>
            </a:r>
            <a:r>
              <a:rPr lang="en-US" altLang="zh-CN" b="1" dirty="0"/>
              <a:t>Decentralized Storage Networks, DSNs</a:t>
            </a:r>
            <a:r>
              <a:rPr lang="zh-CN" altLang="en-US" b="1" dirty="0"/>
              <a:t>）</a:t>
            </a:r>
            <a:r>
              <a:rPr lang="zh-CN" altLang="en-US" dirty="0"/>
              <a:t> 如 </a:t>
            </a:r>
            <a:r>
              <a:rPr lang="en-US" altLang="zh-CN" dirty="0"/>
              <a:t>Sia</a:t>
            </a:r>
            <a:r>
              <a:rPr lang="zh-CN" altLang="en-US" dirty="0"/>
              <a:t>、</a:t>
            </a:r>
            <a:r>
              <a:rPr lang="en-US" altLang="zh-CN" dirty="0" err="1"/>
              <a:t>Filecoin</a:t>
            </a:r>
            <a:r>
              <a:rPr lang="zh-CN" altLang="en-US" dirty="0"/>
              <a:t>、</a:t>
            </a:r>
            <a:r>
              <a:rPr lang="en-US" altLang="zh-CN" dirty="0"/>
              <a:t>Swarm </a:t>
            </a:r>
            <a:r>
              <a:rPr lang="zh-CN" altLang="en-US" dirty="0"/>
              <a:t>等迅速兴起。与传统云存储相比，</a:t>
            </a:r>
            <a:r>
              <a:rPr lang="en-US" altLang="zh-CN" dirty="0"/>
              <a:t>DSN </a:t>
            </a:r>
            <a:r>
              <a:rPr lang="zh-CN" altLang="en-US" dirty="0"/>
              <a:t>依靠大量独立节点提供存储资源，具有 </a:t>
            </a:r>
            <a:r>
              <a:rPr lang="zh-CN" altLang="en-US" b="1" dirty="0"/>
              <a:t>自治性、可扩展性与透明性</a:t>
            </a:r>
            <a:r>
              <a:rPr lang="zh-CN" altLang="en-US" dirty="0"/>
              <a:t>，因此被视为未来云存储的重要形态。</a:t>
            </a:r>
            <a:endParaRPr lang="en-US" altLang="zh-CN" dirty="0"/>
          </a:p>
          <a:p>
            <a:r>
              <a:rPr lang="zh-CN" altLang="en-US" dirty="0"/>
              <a:t>在开放的环境中出现了两类基本需求：</a:t>
            </a:r>
            <a:endParaRPr lang="en-US" altLang="zh-CN" dirty="0"/>
          </a:p>
          <a:p>
            <a:pPr lvl="1"/>
            <a:r>
              <a:rPr lang="zh-CN" altLang="en-US" dirty="0"/>
              <a:t>数据完整性审计（</a:t>
            </a:r>
            <a:r>
              <a:rPr lang="en-US" altLang="zh-CN" dirty="0"/>
              <a:t>Integrity Auditing</a:t>
            </a:r>
            <a:r>
              <a:rPr lang="zh-CN" altLang="en-US" dirty="0"/>
              <a:t>）</a:t>
            </a:r>
            <a:br>
              <a:rPr lang="en-US" altLang="zh-CN" dirty="0"/>
            </a:br>
            <a:r>
              <a:rPr lang="zh-CN" altLang="en-US" dirty="0"/>
              <a:t>的基本需求，保障数据在存储系</a:t>
            </a:r>
            <a:br>
              <a:rPr lang="en-US" altLang="zh-CN" dirty="0"/>
            </a:br>
            <a:r>
              <a:rPr lang="zh-CN" altLang="en-US" dirty="0"/>
              <a:t>统的完整性。</a:t>
            </a:r>
            <a:endParaRPr lang="en-US" altLang="zh-CN" dirty="0"/>
          </a:p>
          <a:p>
            <a:pPr lvl="1"/>
            <a:r>
              <a:rPr lang="zh-CN" altLang="en-US" dirty="0"/>
              <a:t>加密数据上加密搜索需求，</a:t>
            </a:r>
            <a:br>
              <a:rPr lang="en-US" altLang="zh-CN" dirty="0"/>
            </a:br>
            <a:r>
              <a:rPr lang="zh-CN" altLang="en-US" dirty="0"/>
              <a:t>保证加密文件能够根据关键词</a:t>
            </a:r>
            <a:br>
              <a:rPr lang="en-US" altLang="zh-CN" dirty="0"/>
            </a:br>
            <a:r>
              <a:rPr lang="zh-CN" altLang="en-US" dirty="0"/>
              <a:t>及时快速搜索，确保文件真正</a:t>
            </a:r>
            <a:br>
              <a:rPr lang="en-US" altLang="zh-CN" dirty="0"/>
            </a:br>
            <a:r>
              <a:rPr lang="zh-CN" altLang="en-US" dirty="0"/>
              <a:t>的存储。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研究背景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56CEA9-8388-F037-7011-EB1DC986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33" y="4599217"/>
            <a:ext cx="3220767" cy="147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6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 </a:t>
            </a:r>
            <a:r>
              <a:rPr lang="en-US" altLang="zh-CN" dirty="0"/>
              <a:t>DSN </a:t>
            </a:r>
            <a:r>
              <a:rPr lang="zh-CN" altLang="en-US" dirty="0"/>
              <a:t>中同时实现“可验证搜索 </a:t>
            </a:r>
            <a:r>
              <a:rPr lang="en-US" altLang="zh-CN" dirty="0"/>
              <a:t>+ </a:t>
            </a:r>
            <a:r>
              <a:rPr lang="zh-CN" altLang="en-US" dirty="0"/>
              <a:t>完整性审计”的困难：</a:t>
            </a:r>
            <a:endParaRPr lang="en-US" altLang="zh-CN" dirty="0"/>
          </a:p>
          <a:p>
            <a:pPr lvl="1"/>
            <a:r>
              <a:rPr lang="zh-CN" altLang="en-US" dirty="0"/>
              <a:t>不能引入第三方服务器，导致单个服务节点必须是全节点。</a:t>
            </a:r>
            <a:endParaRPr lang="en-US" altLang="zh-CN" dirty="0"/>
          </a:p>
          <a:p>
            <a:pPr lvl="1"/>
            <a:r>
              <a:rPr lang="zh-CN" altLang="en-US" dirty="0"/>
              <a:t>链上空间极为有限，导致证明生成的大小受到限制。</a:t>
            </a:r>
            <a:endParaRPr lang="en-US" altLang="zh-CN" dirty="0"/>
          </a:p>
          <a:p>
            <a:r>
              <a:rPr lang="zh-CN" altLang="en-US" dirty="0"/>
              <a:t>现存方案缺陷：</a:t>
            </a:r>
            <a:endParaRPr lang="en-US" altLang="zh-CN" dirty="0"/>
          </a:p>
          <a:p>
            <a:pPr lvl="1"/>
            <a:r>
              <a:rPr lang="zh-CN" altLang="en-US" dirty="0"/>
              <a:t>多数方案依赖 </a:t>
            </a:r>
            <a:r>
              <a:rPr lang="zh-CN" altLang="en-US" b="1" dirty="0">
                <a:solidFill>
                  <a:srgbClr val="FF0000"/>
                </a:solidFill>
              </a:rPr>
              <a:t>可信第三方（</a:t>
            </a:r>
            <a:r>
              <a:rPr lang="en-US" altLang="zh-CN" b="1" dirty="0">
                <a:solidFill>
                  <a:srgbClr val="FF0000"/>
                </a:solidFill>
              </a:rPr>
              <a:t>arbiter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重算搜索即可验证结果，但这与 </a:t>
            </a:r>
            <a:r>
              <a:rPr lang="en-US" altLang="zh-CN" dirty="0"/>
              <a:t>DSN </a:t>
            </a:r>
            <a:r>
              <a:rPr lang="zh-CN" altLang="en-US" dirty="0"/>
              <a:t>的</a:t>
            </a:r>
            <a:r>
              <a:rPr lang="zh-CN" altLang="en-US" b="1" dirty="0"/>
              <a:t>去中心化原则相冲突。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zh-CN" altLang="en-US" dirty="0">
                <a:solidFill>
                  <a:srgbClr val="FF0000"/>
                </a:solidFill>
              </a:rPr>
              <a:t>链上存储完整索引代价过高</a:t>
            </a:r>
            <a:r>
              <a:rPr lang="zh-CN" altLang="en-US" dirty="0"/>
              <a:t>，例如</a:t>
            </a:r>
            <a:r>
              <a:rPr lang="en-US" altLang="zh-CN" dirty="0" err="1"/>
              <a:t>Filecoin</a:t>
            </a:r>
            <a:r>
              <a:rPr lang="zh-CN" altLang="en-US" dirty="0"/>
              <a:t>的</a:t>
            </a:r>
            <a:r>
              <a:rPr lang="en-US" altLang="zh-CN" dirty="0"/>
              <a:t>SNARK</a:t>
            </a:r>
            <a:r>
              <a:rPr lang="zh-CN" altLang="en-US" dirty="0"/>
              <a:t>方案</a:t>
            </a:r>
            <a:r>
              <a:rPr lang="en-US" altLang="zh-CN" dirty="0"/>
              <a:t>,</a:t>
            </a:r>
            <a:r>
              <a:rPr lang="zh-CN" altLang="en-US" dirty="0"/>
              <a:t>公共参数就绪需要</a:t>
            </a:r>
            <a:r>
              <a:rPr lang="en-US" altLang="zh-CN" dirty="0"/>
              <a:t>2G</a:t>
            </a:r>
            <a:r>
              <a:rPr lang="zh-CN" altLang="en-US" dirty="0"/>
              <a:t>的大小。</a:t>
            </a:r>
            <a:endParaRPr lang="en-US" altLang="zh-CN" dirty="0"/>
          </a:p>
          <a:p>
            <a:pPr lvl="1"/>
            <a:r>
              <a:rPr lang="zh-CN" altLang="en-US" dirty="0"/>
              <a:t>现有方案只能单独解决“可验证搜索”或“数据完整性审计”中的某一项，而不能同时满足两者。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现存方案的不足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688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密码学知识</a:t>
            </a:r>
            <a:endParaRPr lang="en-US" altLang="zh-CN" dirty="0"/>
          </a:p>
          <a:p>
            <a:pPr lvl="1"/>
            <a:r>
              <a:rPr lang="zh-CN" altLang="en-US" dirty="0"/>
              <a:t>对称加密：用于大规模数据的加解密，解密与解密使用同样的密钥。</a:t>
            </a:r>
            <a:endParaRPr lang="en-US" altLang="zh-CN" dirty="0"/>
          </a:p>
          <a:p>
            <a:pPr lvl="1"/>
            <a:r>
              <a:rPr lang="zh-CN" altLang="en-US" dirty="0"/>
              <a:t>非对称加密：可用于数据加密与数据签名，加密解密密钥不同。一般私钥签名，公钥验证身份。公钥加密，私钥解密。</a:t>
            </a:r>
            <a:endParaRPr lang="en-US" altLang="zh-CN" dirty="0"/>
          </a:p>
          <a:p>
            <a:pPr lvl="1"/>
            <a:r>
              <a:rPr lang="zh-CN" altLang="en-US" dirty="0"/>
              <a:t>哈希算法：将加密内容生成一段固定的代码串，代码串理论上唯一且不可逆。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技术知识介绍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密码学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D46EDB79-B489-BB9D-3DFE-FD859A45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298" y="4480723"/>
            <a:ext cx="2008251" cy="2250141"/>
          </a:xfrm>
          <a:prstGeom prst="rect">
            <a:avLst/>
          </a:prstGeom>
        </p:spPr>
      </p:pic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851C0D48-6901-53CE-25DE-87682B2EF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409" y="4480723"/>
            <a:ext cx="1531564" cy="2299660"/>
          </a:xfrm>
          <a:prstGeom prst="rect">
            <a:avLst/>
          </a:prstGeom>
        </p:spPr>
      </p:pic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63963286-CF12-411D-34F2-6948B52F1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101" y="4480723"/>
            <a:ext cx="2340147" cy="225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8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背景知识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把群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的两个元素</a:t>
                </a:r>
                <a:r>
                  <a:rPr lang="en-US" altLang="zh-CN" dirty="0" err="1"/>
                  <a:t>a,b</a:t>
                </a:r>
                <a:r>
                  <a:rPr lang="zh-CN" altLang="en-US" dirty="0"/>
                  <a:t>映射到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性质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双线性性：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非退化性：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可计算性：配对值能在有限时间内计算。</a:t>
                </a:r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技术知识介绍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双线性配对函数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42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方案创新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关键词安全：</a:t>
            </a:r>
            <a:endParaRPr lang="en-US" altLang="zh-CN" dirty="0"/>
          </a:p>
          <a:p>
            <a:pPr lvl="1"/>
            <a:r>
              <a:rPr lang="zh-CN" altLang="en-US" dirty="0"/>
              <a:t>文件对应的关键词为了进行关键词关联搜索，实现可搜索加密。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对称加密算法加密关键词</a:t>
            </a:r>
            <a:r>
              <a:rPr lang="zh-CN" altLang="en-US" dirty="0"/>
              <a:t>保障关键词的安全性。</a:t>
            </a:r>
            <a:endParaRPr lang="en-US" altLang="zh-CN" dirty="0"/>
          </a:p>
          <a:p>
            <a:r>
              <a:rPr lang="zh-CN" altLang="en-US" dirty="0"/>
              <a:t>前向安全</a:t>
            </a:r>
            <a:endParaRPr lang="en-US" altLang="zh-CN" dirty="0"/>
          </a:p>
          <a:p>
            <a:pPr lvl="1"/>
            <a:r>
              <a:rPr lang="zh-CN" altLang="en-US" dirty="0"/>
              <a:t>设计</a:t>
            </a:r>
            <a:r>
              <a:rPr lang="zh-CN" altLang="en-US" dirty="0">
                <a:solidFill>
                  <a:srgbClr val="FF0000"/>
                </a:solidFill>
              </a:rPr>
              <a:t>关键词的状态链</a:t>
            </a:r>
            <a:r>
              <a:rPr lang="zh-CN" altLang="en-US" dirty="0"/>
              <a:t>，关键词新增一个文件都会新增一个新的状态，更新状态链，只能获取最新的关键词状态才能解密链，获取状态与文件</a:t>
            </a:r>
            <a:r>
              <a:rPr lang="en-US" altLang="zh-CN" dirty="0"/>
              <a:t>ID</a:t>
            </a:r>
            <a:r>
              <a:rPr lang="zh-CN" altLang="en-US" dirty="0"/>
              <a:t>结合才能进行加密搜索。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技术创新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前向安全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pic>
        <p:nvPicPr>
          <p:cNvPr id="7" name="图片 6" descr="图示">
            <a:extLst>
              <a:ext uri="{FF2B5EF4-FFF2-40B4-BE49-F238E27FC236}">
                <a16:creationId xmlns:a16="http://schemas.microsoft.com/office/drawing/2014/main" id="{329D4C77-CFB4-5490-EC75-2A115B3F7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11" y="4723280"/>
            <a:ext cx="2947902" cy="20554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A3DB56-2EE6-5426-A607-FAD43CA24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182" y="4723280"/>
            <a:ext cx="4249271" cy="160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5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方案创新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搜索证明与文件审计一体化</a:t>
            </a:r>
            <a:endParaRPr lang="en-US" altLang="zh-CN" dirty="0"/>
          </a:p>
          <a:p>
            <a:pPr lvl="1"/>
            <a:r>
              <a:rPr lang="zh-CN" altLang="en-US" dirty="0"/>
              <a:t>加密搜索的证明</a:t>
            </a:r>
            <a:endParaRPr lang="en-US" altLang="zh-CN" dirty="0"/>
          </a:p>
          <a:p>
            <a:pPr lvl="1"/>
            <a:r>
              <a:rPr lang="zh-CN" altLang="en-US" dirty="0"/>
              <a:t>数据完整性审计证明</a:t>
            </a:r>
            <a:endParaRPr lang="en-US" altLang="zh-CN" dirty="0"/>
          </a:p>
          <a:p>
            <a:pPr lvl="1"/>
            <a:r>
              <a:rPr lang="zh-CN" altLang="en-US" dirty="0"/>
              <a:t>将两个证明同时得到，并同时上链，在验证时，可以同时验证。</a:t>
            </a:r>
            <a:endParaRPr lang="en-US" altLang="zh-CN" dirty="0"/>
          </a:p>
          <a:p>
            <a:r>
              <a:rPr lang="zh-CN" altLang="en-US" dirty="0"/>
              <a:t>搜索证明与文件审计证明轻量化</a:t>
            </a:r>
            <a:endParaRPr lang="en-US" altLang="zh-CN" dirty="0"/>
          </a:p>
          <a:p>
            <a:pPr lvl="1"/>
            <a:r>
              <a:rPr lang="zh-CN" altLang="en-US" dirty="0"/>
              <a:t>生成轻量化证明：基本的模下的加运算与指数运算，证明结果有限。</a:t>
            </a:r>
            <a:endParaRPr lang="en-US" altLang="zh-CN" dirty="0"/>
          </a:p>
          <a:p>
            <a:pPr lvl="1"/>
            <a:r>
              <a:rPr lang="zh-CN" altLang="en-US" dirty="0"/>
              <a:t>验证证明轻量化：双线性配对的计算高效。</a:t>
            </a:r>
            <a:endParaRPr lang="en-US" altLang="zh-CN" dirty="0"/>
          </a:p>
          <a:p>
            <a:endParaRPr lang="en-US" altLang="zh-CN" b="1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技术创新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一体化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轻量化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2108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结构设计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客户端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1"/>
                </a:solidFill>
              </a:rPr>
              <a:t>加密</a:t>
            </a:r>
            <a:r>
              <a:rPr lang="zh-CN" altLang="en-US" dirty="0"/>
              <a:t>文件存储、</a:t>
            </a:r>
            <a:br>
              <a:rPr lang="en-US" altLang="zh-CN" dirty="0"/>
            </a:br>
            <a:r>
              <a:rPr lang="zh-CN" altLang="en-US" dirty="0"/>
              <a:t>删除、</a:t>
            </a:r>
            <a:r>
              <a:rPr lang="zh-CN" altLang="en-US" dirty="0">
                <a:solidFill>
                  <a:schemeClr val="accent1"/>
                </a:solidFill>
              </a:rPr>
              <a:t>请求</a:t>
            </a:r>
            <a:r>
              <a:rPr lang="zh-CN" altLang="en-US" dirty="0"/>
              <a:t>关键词搜索。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区块链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1"/>
                </a:solidFill>
              </a:rPr>
              <a:t>存储</a:t>
            </a:r>
            <a:r>
              <a:rPr lang="zh-CN" altLang="en-US" dirty="0"/>
              <a:t>客户端的</a:t>
            </a:r>
            <a:br>
              <a:rPr lang="en-US" altLang="zh-CN" dirty="0"/>
            </a:br>
            <a:r>
              <a:rPr lang="zh-CN" altLang="en-US" dirty="0"/>
              <a:t>证明生成请求、客户端</a:t>
            </a:r>
            <a:br>
              <a:rPr lang="en-US" altLang="zh-CN" dirty="0"/>
            </a:br>
            <a:r>
              <a:rPr lang="zh-CN" altLang="en-US" dirty="0"/>
              <a:t>的公钥、固定公共参数</a:t>
            </a:r>
            <a:br>
              <a:rPr lang="en-US" altLang="zh-CN" dirty="0"/>
            </a:br>
            <a:r>
              <a:rPr lang="zh-CN" altLang="en-US" dirty="0"/>
              <a:t>、生成的证明、验证结</a:t>
            </a:r>
            <a:br>
              <a:rPr lang="en-US" altLang="zh-CN" dirty="0"/>
            </a:br>
            <a:r>
              <a:rPr lang="zh-CN" altLang="en-US" dirty="0"/>
              <a:t>果。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存储端</a:t>
            </a:r>
            <a:r>
              <a:rPr lang="zh-CN" altLang="en-US" dirty="0"/>
              <a:t>：加密文件进行</a:t>
            </a:r>
            <a:br>
              <a:rPr lang="en-US" altLang="zh-CN" dirty="0"/>
            </a:br>
            <a:r>
              <a:rPr lang="zh-CN" altLang="en-US" dirty="0">
                <a:solidFill>
                  <a:schemeClr val="accent1"/>
                </a:solidFill>
              </a:rPr>
              <a:t>存储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检索</a:t>
            </a:r>
            <a:r>
              <a:rPr lang="zh-CN" altLang="en-US" dirty="0"/>
              <a:t>，通过关键</a:t>
            </a:r>
            <a:br>
              <a:rPr lang="en-US" altLang="zh-CN" dirty="0"/>
            </a:br>
            <a:r>
              <a:rPr lang="zh-CN" altLang="en-US" dirty="0"/>
              <a:t>词进行可</a:t>
            </a:r>
            <a:r>
              <a:rPr lang="zh-CN" altLang="en-US" dirty="0">
                <a:solidFill>
                  <a:srgbClr val="FF0000"/>
                </a:solidFill>
              </a:rPr>
              <a:t>验证</a:t>
            </a:r>
            <a:r>
              <a:rPr lang="zh-CN" altLang="en-US" dirty="0">
                <a:solidFill>
                  <a:schemeClr val="accent1"/>
                </a:solidFill>
              </a:rPr>
              <a:t>搜索证明</a:t>
            </a:r>
            <a:br>
              <a:rPr lang="en-US" altLang="zh-CN" dirty="0"/>
            </a:b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1"/>
                </a:solidFill>
              </a:rPr>
              <a:t>生成</a:t>
            </a:r>
            <a:r>
              <a:rPr lang="zh-CN" altLang="en-US" dirty="0"/>
              <a:t>以及通过</a:t>
            </a:r>
            <a:r>
              <a:rPr lang="zh-CN" altLang="en-US" dirty="0">
                <a:solidFill>
                  <a:schemeClr val="accent1"/>
                </a:solidFill>
              </a:rPr>
              <a:t>文件</a:t>
            </a:r>
            <a:r>
              <a:rPr lang="en-US" altLang="zh-CN" dirty="0"/>
              <a:t>ID</a:t>
            </a:r>
            <a:br>
              <a:rPr lang="en-US" altLang="zh-CN" dirty="0"/>
            </a:br>
            <a:r>
              <a:rPr lang="zh-CN" altLang="en-US" dirty="0"/>
              <a:t>进行</a:t>
            </a:r>
            <a:r>
              <a:rPr lang="zh-CN" altLang="en-US" dirty="0">
                <a:solidFill>
                  <a:schemeClr val="accent1"/>
                </a:solidFill>
              </a:rPr>
              <a:t>完整性审计</a:t>
            </a:r>
            <a:r>
              <a:rPr lang="zh-CN" altLang="en-US" dirty="0"/>
              <a:t>证明生</a:t>
            </a:r>
            <a:br>
              <a:rPr lang="en-US" altLang="zh-CN" dirty="0"/>
            </a:br>
            <a:r>
              <a:rPr lang="zh-CN" altLang="en-US" dirty="0"/>
              <a:t>成与</a:t>
            </a:r>
            <a:r>
              <a:rPr lang="zh-CN" altLang="en-US" dirty="0">
                <a:solidFill>
                  <a:srgbClr val="FF0000"/>
                </a:solidFill>
              </a:rPr>
              <a:t>验证</a:t>
            </a:r>
            <a:r>
              <a:rPr lang="zh-CN" altLang="en-US" dirty="0"/>
              <a:t>上链。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方案概述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结构设计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ECBE42-94D3-E1D6-0993-B25E1D3AE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948" y="2230432"/>
            <a:ext cx="4555336" cy="33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8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通过安全参数生成双线性参数</a:t>
                </a:r>
                <a:r>
                  <a:rPr lang="en-US" altLang="zh-CN" dirty="0"/>
                  <a:t>MP</a:t>
                </a:r>
                <a:r>
                  <a:rPr lang="zh-CN" altLang="en-US" dirty="0"/>
                  <a:t>，并选择公共参数</a:t>
                </a:r>
                <a:r>
                  <a:rPr lang="en-US" altLang="zh-CN" dirty="0"/>
                  <a:t>PF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并生成</a:t>
                </a:r>
                <a:r>
                  <a:rPr lang="en-US" altLang="zh-CN" dirty="0"/>
                  <a:t>PP</a:t>
                </a:r>
                <a:r>
                  <a:rPr lang="zh-CN" altLang="en-US" dirty="0"/>
                  <a:t>作为公共参数</a:t>
                </a:r>
                <a:r>
                  <a:rPr lang="en-US" altLang="zh-CN" dirty="0"/>
                  <a:t>.g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G1</a:t>
                </a:r>
                <a:r>
                  <a:rPr lang="zh-CN" altLang="en-US" dirty="0"/>
                  <a:t>的生成元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en-US" altLang="zh-CN" dirty="0"/>
                  <a:t>G1</a:t>
                </a:r>
                <a:r>
                  <a:rPr lang="zh-CN" altLang="en-US" dirty="0"/>
                  <a:t>中随即元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b="1" dirty="0"/>
                  <a:t>客户端通过</a:t>
                </a:r>
                <a:r>
                  <a:rPr lang="en-US" altLang="zh-CN" b="1" dirty="0"/>
                  <a:t>PP</a:t>
                </a:r>
                <a:r>
                  <a:rPr lang="zh-CN" altLang="en-US" b="1" dirty="0"/>
                  <a:t>生成自己的公钥与私钥，公钥</a:t>
                </a:r>
                <a:r>
                  <a:rPr lang="en-US" altLang="zh-CN" b="1" dirty="0"/>
                  <a:t>pk</a:t>
                </a:r>
                <a:r>
                  <a:rPr lang="zh-CN" altLang="en-US" b="1" dirty="0"/>
                  <a:t>上链。</a:t>
                </a:r>
                <a:endParaRPr lang="en-US" altLang="zh-CN" b="1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r="-12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91771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系统初始化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2C050F-24B2-4C30-1B4E-610D9241C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64" y="1753436"/>
            <a:ext cx="4604017" cy="27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414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3"/>
                <a:ext cx="7886700" cy="5032377"/>
              </a:xfrm>
            </p:spPr>
            <p:txBody>
              <a:bodyPr>
                <a:normAutofit lnSpcReduction="10000"/>
              </a:bodyPr>
              <a:lstStyle/>
              <a:p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lvl="1"/>
                <a:r>
                  <a:rPr lang="en-US" altLang="zh-CN" dirty="0"/>
                  <a:t>1.</a:t>
                </a:r>
                <a:r>
                  <a:rPr lang="zh-CN" altLang="en-US" dirty="0"/>
                  <a:t>输入文件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、关键词</a:t>
                </a:r>
                <a:r>
                  <a:rPr lang="en-US" altLang="zh-C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)</a:t>
                </a:r>
                <a:r>
                  <a:rPr lang="zh-CN" altLang="en-US" dirty="0"/>
                  <a:t>、客户端私钥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dirty="0"/>
                  <a:t> 2.</a:t>
                </a:r>
                <a:r>
                  <a:rPr lang="zh-CN" altLang="en-US" dirty="0"/>
                  <a:t>加密：密文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𝐸𝑛𝑐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>
                    <a:solidFill>
                      <a:schemeClr val="accent1"/>
                    </a:solidFill>
                  </a:rPr>
                  <a:t>Search Token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SE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mk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lvl="2"/>
                <a:r>
                  <a:rPr lang="en-US" altLang="zh-CN" dirty="0">
                    <a:solidFill>
                      <a:schemeClr val="accent1"/>
                    </a:solidFill>
                  </a:rPr>
                  <a:t>State Associated Token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lvl="2"/>
                <a:r>
                  <a:rPr lang="zh-CN" altLang="en-US" dirty="0">
                    <a:solidFill>
                      <a:schemeClr val="accent1"/>
                    </a:solidFill>
                  </a:rPr>
                  <a:t>认证标签集合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T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nary>
                                  <m:naryPr>
                                    <m:chr m:val="∏"/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CN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𝑠𝑘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altLang="zh-CN" dirty="0">
                    <a:solidFill>
                      <a:schemeClr val="accent1"/>
                    </a:solidFill>
                  </a:rPr>
                  <a:t>Keyword associated tag</a:t>
                </a:r>
                <a:r>
                  <a:rPr lang="en-US" altLang="zh-CN" dirty="0"/>
                  <a:t>:</a:t>
                </a:r>
              </a:p>
              <a:p>
                <a:pPr lvl="3"/>
                <a:r>
                  <a:rPr lang="zh-CN" altLang="en-US" dirty="0"/>
                  <a:t>关键词无前一个状态：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𝑤𝑖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0">
                                        <a:latin typeface="Cambria Math" panose="02040503050406030204" pitchFamily="18" charset="0"/>
                                      </a:rPr>
                                      <m:t>st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𝑠𝑘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lvl="3"/>
                <a:r>
                  <a:rPr lang="zh-CN" altLang="en-US" dirty="0"/>
                  <a:t>关键词有前一个状态：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f>
                              <m:f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b>
                                    </m:s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𝑠𝑘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3.</a:t>
                </a:r>
                <a:r>
                  <a:rPr lang="zh-CN" altLang="en-US" dirty="0"/>
                  <a:t>发送这些数据到服务端。</a:t>
                </a: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3"/>
                <a:ext cx="7886700" cy="50323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插入操作实现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客户端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7008FC-FF6A-9DD8-DE06-8C0377023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39" y="1825623"/>
            <a:ext cx="6044357" cy="137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8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96582"/>
            <a:ext cx="7886700" cy="4759939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将客户端发送的数据存储在索引数据库与密文数据库。</a:t>
            </a:r>
            <a:endParaRPr lang="en-US" altLang="zh-CN" dirty="0"/>
          </a:p>
          <a:p>
            <a:r>
              <a:rPr lang="zh-CN" altLang="en-US" dirty="0"/>
              <a:t>设置文件状态为</a:t>
            </a:r>
            <a:r>
              <a:rPr lang="en-US" altLang="zh-CN" dirty="0"/>
              <a:t>valid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插入操作完成。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28582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插入操作实现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服务端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2C8605-9140-7635-BE32-3820CE140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10" y="1804299"/>
            <a:ext cx="6028843" cy="312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58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客户端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计算：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del</m:t>
                    </m:r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sSub>
                              <m:sSubPr>
                                <m:ctrlP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𝑠𝑘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发送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𝑑𝑒𝑙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到服务端。</a:t>
                </a:r>
                <a:endParaRPr lang="en-US" altLang="zh-CN" dirty="0"/>
              </a:p>
              <a:p>
                <a:r>
                  <a:rPr lang="zh-CN" altLang="en-US" dirty="0"/>
                  <a:t>服务端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根据索引数据库，删除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更新计算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k</m:t>
                    </m:r>
                    <m:sSup>
                      <m:sSup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en-US" altLang="zh-CN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𝑑𝑒𝑙</m:t>
                        </m:r>
                      </m:den>
                    </m:f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删除文件</a:t>
                </a:r>
                <a:r>
                  <a:rPr lang="en-US" altLang="zh-CN" dirty="0"/>
                  <a:t>ID</a:t>
                </a:r>
                <a:r>
                  <a:rPr lang="zh-CN" altLang="en-US" dirty="0"/>
                  <a:t>认证。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删除加密文件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与设置文件状态为</a:t>
                </a:r>
                <a:r>
                  <a:rPr lang="en-US" altLang="zh-CN" dirty="0"/>
                  <a:t>invalid.</a:t>
                </a:r>
              </a:p>
              <a:p>
                <a:pPr lvl="1"/>
                <a:r>
                  <a:rPr lang="zh-CN" altLang="en-US" dirty="0"/>
                  <a:t>删除操作结束。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删除操作实现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090240" y="6369281"/>
            <a:ext cx="42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04BC8B-B335-2187-9433-29CC56E27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460" y="1875258"/>
            <a:ext cx="3677142" cy="19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客户端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获取关键词</a:t>
                </a:r>
                <a:r>
                  <a:rPr lang="en-US" altLang="zh-CN" dirty="0"/>
                  <a:t>w,</a:t>
                </a:r>
                <a:r>
                  <a:rPr lang="zh-CN" altLang="en-US" dirty="0"/>
                  <a:t>与关键词最近状态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加密：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𝐸𝑛𝑐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</a:rPr>
                  <a:t>发送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到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区块链的存储合约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>
                    <a:solidFill>
                      <a:schemeClr val="accent1"/>
                    </a:solidFill>
                  </a:rPr>
                  <a:t>获取验证结果。</a:t>
                </a:r>
                <a:endParaRPr lang="en-US" altLang="zh-CN" dirty="0">
                  <a:solidFill>
                    <a:schemeClr val="accent1"/>
                  </a:solidFill>
                </a:endParaRPr>
              </a:p>
              <a:p>
                <a:r>
                  <a:rPr lang="zh-CN" altLang="en-US" dirty="0"/>
                  <a:t>区块链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接收并存储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接受存储搜索证明。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接受存储搜索证明验证。</a:t>
                </a:r>
                <a:endParaRPr lang="en-US" altLang="zh-CN" dirty="0"/>
              </a:p>
              <a:p>
                <a:r>
                  <a:rPr lang="zh-CN" altLang="en-US" dirty="0"/>
                  <a:t>存储端</a:t>
                </a:r>
                <a:r>
                  <a:rPr lang="en-US" altLang="zh-CN" dirty="0"/>
                  <a:t>1</a:t>
                </a:r>
              </a:p>
              <a:p>
                <a:pPr lvl="1"/>
                <a:r>
                  <a:rPr lang="zh-CN" altLang="en-US" b="0" dirty="0">
                    <a:solidFill>
                      <a:srgbClr val="FF0000"/>
                    </a:solidFill>
                  </a:rPr>
                  <a:t>请求合约获得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</a:rPr>
                  <a:t>生成搜索证明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𝑅𝑒𝑠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，并上链。</a:t>
                </a:r>
                <a:endParaRPr lang="en-US" altLang="zh-CN" dirty="0"/>
              </a:p>
              <a:p>
                <a:r>
                  <a:rPr lang="zh-CN" altLang="en-US" dirty="0"/>
                  <a:t>存储端</a:t>
                </a:r>
                <a:r>
                  <a:rPr lang="en-US" altLang="zh-CN" dirty="0"/>
                  <a:t>2</a:t>
                </a:r>
              </a:p>
              <a:p>
                <a:pPr lvl="1"/>
                <a:r>
                  <a:rPr lang="zh-CN" altLang="en-US" dirty="0">
                    <a:solidFill>
                      <a:srgbClr val="FF0000"/>
                    </a:solidFill>
                  </a:rPr>
                  <a:t>获得搜索证明</a:t>
                </a:r>
                <a:r>
                  <a:rPr lang="zh-CN" altLang="en-US" dirty="0"/>
                  <a:t>，并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验证是否正确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返回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0/1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，并上链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加密搜索流程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440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4486AF-3D06-7CFF-3A5C-F1A56769D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887" y="2646871"/>
            <a:ext cx="3814419" cy="233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92909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Step1</a:t>
            </a:r>
            <a:r>
              <a:rPr lang="zh-CN" altLang="en-US" dirty="0"/>
              <a:t>：通过请求搜索的</a:t>
            </a:r>
            <a:r>
              <a:rPr lang="zh-CN" altLang="en-US" dirty="0">
                <a:solidFill>
                  <a:schemeClr val="accent1"/>
                </a:solidFill>
              </a:rPr>
              <a:t>状态</a:t>
            </a:r>
            <a:br>
              <a:rPr lang="en-US" altLang="zh-CN" dirty="0"/>
            </a:br>
            <a:r>
              <a:rPr lang="zh-CN" altLang="en-US" dirty="0"/>
              <a:t>与</a:t>
            </a:r>
            <a:r>
              <a:rPr lang="zh-CN" altLang="en-US" dirty="0">
                <a:solidFill>
                  <a:schemeClr val="accent1"/>
                </a:solidFill>
              </a:rPr>
              <a:t>搜索</a:t>
            </a:r>
            <a:r>
              <a:rPr lang="en-US" altLang="zh-CN" dirty="0">
                <a:solidFill>
                  <a:schemeClr val="accent1"/>
                </a:solidFill>
              </a:rPr>
              <a:t>token</a:t>
            </a:r>
            <a:r>
              <a:rPr lang="en-US" altLang="zh-CN" dirty="0"/>
              <a:t>,</a:t>
            </a:r>
            <a:r>
              <a:rPr lang="zh-CN" altLang="en-US" dirty="0"/>
              <a:t>得到</a:t>
            </a:r>
            <a:r>
              <a:rPr lang="zh-CN" altLang="en-US" dirty="0">
                <a:solidFill>
                  <a:schemeClr val="accent1"/>
                </a:solidFill>
              </a:rPr>
              <a:t>关键词前一</a:t>
            </a:r>
            <a:br>
              <a:rPr lang="en-US" altLang="zh-CN" dirty="0">
                <a:solidFill>
                  <a:schemeClr val="accent1"/>
                </a:solidFill>
              </a:rPr>
            </a:br>
            <a:r>
              <a:rPr lang="zh-CN" altLang="en-US" dirty="0">
                <a:solidFill>
                  <a:schemeClr val="accent1"/>
                </a:solidFill>
              </a:rPr>
              <a:t>个状态</a:t>
            </a:r>
            <a:r>
              <a:rPr lang="zh-CN" altLang="en-US" dirty="0"/>
              <a:t>与对应的</a:t>
            </a:r>
            <a:r>
              <a:rPr lang="zh-CN" altLang="en-US" dirty="0">
                <a:solidFill>
                  <a:schemeClr val="accent1"/>
                </a:solidFill>
              </a:rPr>
              <a:t>文件</a:t>
            </a:r>
            <a:r>
              <a:rPr lang="en-US" altLang="zh-CN" dirty="0">
                <a:solidFill>
                  <a:schemeClr val="accent1"/>
                </a:solidFill>
              </a:rPr>
              <a:t>ID</a:t>
            </a:r>
            <a:r>
              <a:rPr lang="zh-CN" altLang="en-US" dirty="0">
                <a:solidFill>
                  <a:schemeClr val="accent1"/>
                </a:solidFill>
              </a:rPr>
              <a:t>集合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Step2</a:t>
            </a:r>
            <a:r>
              <a:rPr lang="zh-CN" altLang="en-US" dirty="0"/>
              <a:t>：计算中间的证明参数，</a:t>
            </a:r>
            <a:br>
              <a:rPr lang="en-US" altLang="zh-CN" dirty="0"/>
            </a:br>
            <a:r>
              <a:rPr lang="zh-CN" altLang="en-US" dirty="0"/>
              <a:t>用于后面搜索证明的验证步</a:t>
            </a:r>
            <a:br>
              <a:rPr lang="en-US" altLang="zh-CN" dirty="0"/>
            </a:br>
            <a:r>
              <a:rPr lang="zh-CN" altLang="en-US" dirty="0"/>
              <a:t>骤。</a:t>
            </a:r>
            <a:endParaRPr lang="en-US" altLang="zh-CN" dirty="0"/>
          </a:p>
          <a:p>
            <a:r>
              <a:rPr lang="en-US" altLang="zh-CN" dirty="0"/>
              <a:t>Step3</a:t>
            </a:r>
            <a:r>
              <a:rPr lang="zh-CN" altLang="en-US" dirty="0"/>
              <a:t>：控制关键词索引状态</a:t>
            </a:r>
            <a:br>
              <a:rPr lang="en-US" altLang="zh-CN" dirty="0"/>
            </a:br>
            <a:r>
              <a:rPr lang="zh-CN" altLang="en-US" dirty="0"/>
              <a:t>链的搜索结果，关键词的一</a:t>
            </a:r>
            <a:br>
              <a:rPr lang="en-US" altLang="zh-CN" dirty="0"/>
            </a:br>
            <a:r>
              <a:rPr lang="zh-CN" altLang="en-US" dirty="0"/>
              <a:t>个状态对应一个文件。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搜索证明生成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31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F40F81-9536-6499-CC36-4FF187D8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29" y="1825625"/>
            <a:ext cx="3794612" cy="49929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F24406-C27E-A7C8-4A30-7C2AA3D4E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5" y="1782973"/>
            <a:ext cx="4400444" cy="153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59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计算中间参数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计算双线性配对的结果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相等则说明验证结果正</a:t>
                </a:r>
                <a:br>
                  <a:rPr lang="en-US" altLang="zh-CN" dirty="0"/>
                </a:br>
                <a:r>
                  <a:rPr lang="zh-CN" altLang="en-US" dirty="0"/>
                  <a:t>确。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不相等说明计算结果错</a:t>
                </a:r>
                <a:br>
                  <a:rPr lang="en-US" altLang="zh-CN" dirty="0"/>
                </a:br>
                <a:r>
                  <a:rPr lang="zh-CN" altLang="en-US" dirty="0"/>
                  <a:t>误。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11" name="内容占位符 10">
                <a:extLst>
                  <a:ext uri="{FF2B5EF4-FFF2-40B4-BE49-F238E27FC236}">
                    <a16:creationId xmlns:a16="http://schemas.microsoft.com/office/drawing/2014/main" id="{A13EE26B-CB8B-B743-C433-841589786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搜索证明验证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其他存储节点进行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42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13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2BD64A-4815-D8DA-1770-3E7625B46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107" y="1875258"/>
            <a:ext cx="395342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4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5902"/>
            <a:ext cx="7886700" cy="4351338"/>
          </a:xfrm>
        </p:spPr>
        <p:txBody>
          <a:bodyPr/>
          <a:lstStyle/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搜索证明验证</a:t>
            </a:r>
            <a:r>
              <a:rPr lang="en-US" altLang="zh-CN" sz="2400" dirty="0">
                <a:solidFill>
                  <a:schemeClr val="bg1"/>
                </a:solidFill>
              </a:rPr>
              <a:t>/</a:t>
            </a:r>
            <a:r>
              <a:rPr lang="zh-CN" altLang="en-US" sz="2400" dirty="0">
                <a:solidFill>
                  <a:schemeClr val="bg1"/>
                </a:solidFill>
              </a:rPr>
              <a:t>理论的正确性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066993" y="6384780"/>
            <a:ext cx="448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14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044F90-BF34-938D-5FCC-C13223E0B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62" y="1825625"/>
            <a:ext cx="4933402" cy="43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72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方案实现</a:t>
            </a: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BA4EC3B-2333-597E-F63E-40B60A7D1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180" y="3980113"/>
            <a:ext cx="3381847" cy="181000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文件审计证明生成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验证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090240" y="6369281"/>
            <a:ext cx="42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A9167F9-EDCA-2C2E-A8E3-7619FE2FE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794597"/>
            <a:ext cx="3772426" cy="182905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193D533-5D83-376E-68E2-D3C0AE314EA0}"/>
              </a:ext>
            </a:extLst>
          </p:cNvPr>
          <p:cNvSpPr txBox="1"/>
          <p:nvPr/>
        </p:nvSpPr>
        <p:spPr>
          <a:xfrm>
            <a:off x="4074027" y="1907634"/>
            <a:ext cx="438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 ：证明与公钥信息</a:t>
            </a:r>
            <a:endParaRPr lang="en-US" altLang="zh-CN" dirty="0"/>
          </a:p>
          <a:p>
            <a:r>
              <a:rPr lang="zh-CN" altLang="en-US" dirty="0"/>
              <a:t>输出：</a:t>
            </a:r>
            <a:r>
              <a:rPr lang="en-US" altLang="zh-CN" dirty="0"/>
              <a:t>Proof</a:t>
            </a:r>
            <a:r>
              <a:rPr lang="zh-CN" altLang="en-US" dirty="0"/>
              <a:t>，供双线性配对函数计算的中间参数。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D8C788-BF7E-7A06-C18D-7BBD887195E1}"/>
              </a:ext>
            </a:extLst>
          </p:cNvPr>
          <p:cNvSpPr txBox="1"/>
          <p:nvPr/>
        </p:nvSpPr>
        <p:spPr>
          <a:xfrm>
            <a:off x="4074027" y="4027037"/>
            <a:ext cx="3884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其他服务端验证并返回</a:t>
            </a:r>
            <a:endParaRPr lang="en-US" altLang="zh-CN" dirty="0"/>
          </a:p>
          <a:p>
            <a:r>
              <a:rPr lang="zh-CN" altLang="en-US" dirty="0"/>
              <a:t>输入 ：证明与公钥信息</a:t>
            </a:r>
            <a:endParaRPr lang="en-US" altLang="zh-CN" dirty="0"/>
          </a:p>
          <a:p>
            <a:r>
              <a:rPr lang="zh-CN" altLang="en-US" dirty="0"/>
              <a:t>输出：配对验证结果。</a:t>
            </a:r>
          </a:p>
        </p:txBody>
      </p:sp>
    </p:spTree>
    <p:extLst>
      <p:ext uri="{BB962C8B-B14F-4D97-AF65-F5344CB8AC3E}">
        <p14:creationId xmlns:p14="http://schemas.microsoft.com/office/powerpoint/2010/main" val="1275250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86619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(a)</a:t>
            </a:r>
            <a:r>
              <a:rPr lang="zh-CN" altLang="en-US" dirty="0"/>
              <a:t>表示计算公共参数与节点的参数的时间，本方案的计算时间比对比方案都好，节点越多越好。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(b)</a:t>
            </a:r>
            <a:r>
              <a:rPr lang="zh-CN" altLang="en-US" dirty="0"/>
              <a:t>生成的参数上链的消耗量，表示上链信息的大小，初始参数不变，随着节点增加而增加上链公钥的信息。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系统初始化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090240" y="6358246"/>
            <a:ext cx="42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F296B1-B435-D102-F719-3F239CBBE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25625"/>
            <a:ext cx="5767089" cy="275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5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86619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(a)</a:t>
            </a:r>
            <a:r>
              <a:rPr lang="zh-CN" altLang="en-US" dirty="0"/>
              <a:t>表示搜索时的，客户端计算参数的时间，本方案的性能更加好。</a:t>
            </a:r>
            <a:endParaRPr lang="en-US" altLang="zh-CN" dirty="0"/>
          </a:p>
          <a:p>
            <a:r>
              <a:rPr lang="en-US" altLang="zh-CN" dirty="0"/>
              <a:t>(b)</a:t>
            </a:r>
            <a:r>
              <a:rPr lang="zh-CN" altLang="en-US" dirty="0"/>
              <a:t>表示存储节点进行搜索证明与文件证明生成的时间。本方案的时间比对比方案都要好。</a:t>
            </a:r>
            <a:endParaRPr lang="en-US" altLang="zh-CN" dirty="0"/>
          </a:p>
          <a:p>
            <a:r>
              <a:rPr lang="en-US" altLang="zh-CN" dirty="0"/>
              <a:t>(c)</a:t>
            </a:r>
            <a:r>
              <a:rPr lang="zh-CN" altLang="en-US" dirty="0"/>
              <a:t>表示其他的存储节点的验证时间，性能优势比较明显，双线性配对的计算性能比较好。</a:t>
            </a:r>
            <a:endParaRPr lang="en-US" altLang="zh-CN" dirty="0"/>
          </a:p>
          <a:p>
            <a:r>
              <a:rPr lang="en-US" altLang="zh-CN" dirty="0"/>
              <a:t>(d)</a:t>
            </a:r>
            <a:r>
              <a:rPr lang="zh-CN" altLang="en-US" dirty="0"/>
              <a:t>上链信息的大小，本方案存储的信息也是最少的，同时保证搜索与文件认证的证明同时生成。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系统初始化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432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94B56D-FC59-AED6-36C8-A1ED0975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7" y="1825624"/>
            <a:ext cx="864377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59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37C2CDC-A940-7CC2-F410-CECD2F66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方案缺陷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A13EE26B-CB8B-B743-C433-84158978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86619"/>
          </a:xfrm>
        </p:spPr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只支持单关键字搜索，无法原生支持多关键字查询</a:t>
            </a:r>
            <a:endParaRPr lang="en-US" altLang="zh-CN" dirty="0"/>
          </a:p>
          <a:p>
            <a:pPr lvl="1"/>
            <a:r>
              <a:rPr lang="zh-CN" altLang="en-US" dirty="0"/>
              <a:t>多关键字 </a:t>
            </a:r>
            <a:r>
              <a:rPr lang="en-US" altLang="zh-CN" dirty="0"/>
              <a:t>AND/OR </a:t>
            </a:r>
            <a:r>
              <a:rPr lang="zh-CN" altLang="en-US" dirty="0"/>
              <a:t>查询需要拆成多个单关键字查询。</a:t>
            </a:r>
            <a:endParaRPr lang="en-US" altLang="zh-CN" dirty="0"/>
          </a:p>
          <a:p>
            <a:pPr lvl="1"/>
            <a:r>
              <a:rPr lang="zh-CN" altLang="en-US" dirty="0"/>
              <a:t>多关键字会导致多个证明，链上提交的条目线性增加。</a:t>
            </a:r>
            <a:endParaRPr lang="en-US" altLang="zh-CN" dirty="0"/>
          </a:p>
          <a:p>
            <a:pPr lvl="1"/>
            <a:r>
              <a:rPr lang="zh-CN" altLang="en-US" dirty="0"/>
              <a:t>无法做联合证明。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低资源节点</a:t>
            </a:r>
            <a:r>
              <a:rPr lang="en-US" altLang="zh-CN" dirty="0"/>
              <a:t>(</a:t>
            </a:r>
            <a:r>
              <a:rPr lang="zh-CN" altLang="en-US" dirty="0"/>
              <a:t>轻节点</a:t>
            </a:r>
            <a:r>
              <a:rPr lang="en-US" altLang="zh-CN" dirty="0"/>
              <a:t>)</a:t>
            </a:r>
            <a:r>
              <a:rPr lang="zh-CN" altLang="en-US" dirty="0"/>
              <a:t>无法承担搜索与证明生成工作。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缺乏针对可验证搜索与验证行为的激励机制</a:t>
            </a:r>
            <a:endParaRPr lang="en-US" altLang="zh-CN" dirty="0"/>
          </a:p>
          <a:p>
            <a:pPr lvl="1"/>
            <a:r>
              <a:rPr lang="zh-CN" altLang="en-US" dirty="0"/>
              <a:t>导致生成证明的存储节点的积极性不高，从而影响用户。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动态可搜索加密结构未隐藏文档数量变化</a:t>
            </a:r>
            <a:endParaRPr lang="en-US" altLang="zh-CN" dirty="0"/>
          </a:p>
          <a:p>
            <a:pPr lvl="1"/>
            <a:r>
              <a:rPr lang="zh-CN" altLang="en-US" dirty="0"/>
              <a:t>公开了用户的关键信息，关键词对应的文件数量信息。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DD56A8-3B03-21D9-ABFC-E81760ADEDC1}"/>
              </a:ext>
            </a:extLst>
          </p:cNvPr>
          <p:cNvSpPr/>
          <p:nvPr/>
        </p:nvSpPr>
        <p:spPr>
          <a:xfrm>
            <a:off x="628650" y="1321308"/>
            <a:ext cx="7886700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缺陷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4CDA36-FADF-2B1D-E75E-6B10290F473A}"/>
              </a:ext>
            </a:extLst>
          </p:cNvPr>
          <p:cNvSpPr txBox="1"/>
          <p:nvPr/>
        </p:nvSpPr>
        <p:spPr>
          <a:xfrm>
            <a:off x="8145453" y="6361532"/>
            <a:ext cx="432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473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5325" y="549275"/>
            <a:ext cx="769330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5325" y="2290226"/>
            <a:ext cx="76933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</a:rPr>
              <a:t>THANKS</a:t>
            </a:r>
          </a:p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欢迎批评指正！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汇报模板.pptx" id="{9D8FFBCB-747C-4EE8-A333-17F6E0F65EA7}" vid="{3C429314-C835-49BE-9457-D471D7FDA3C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汇报模板</Template>
  <TotalTime>2142</TotalTime>
  <Words>1571</Words>
  <Application>Microsoft Office PowerPoint</Application>
  <PresentationFormat>全屏显示(4:3)</PresentationFormat>
  <Paragraphs>215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等线</vt:lpstr>
      <vt:lpstr>华文仿宋</vt:lpstr>
      <vt:lpstr>华文宋体</vt:lpstr>
      <vt:lpstr>微软雅黑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背景知识</vt:lpstr>
      <vt:lpstr>背景知识</vt:lpstr>
      <vt:lpstr>背景知识</vt:lpstr>
      <vt:lpstr>背景知识</vt:lpstr>
      <vt:lpstr>方案创新</vt:lpstr>
      <vt:lpstr>方案创新</vt:lpstr>
      <vt:lpstr>方案实现</vt:lpstr>
      <vt:lpstr>方案实现</vt:lpstr>
      <vt:lpstr>方案实现</vt:lpstr>
      <vt:lpstr>方案实现</vt:lpstr>
      <vt:lpstr>方案实现</vt:lpstr>
      <vt:lpstr>方案实现</vt:lpstr>
      <vt:lpstr>方案实现</vt:lpstr>
      <vt:lpstr>方案实现</vt:lpstr>
      <vt:lpstr>方案实现</vt:lpstr>
      <vt:lpstr>方案实现</vt:lpstr>
      <vt:lpstr>实验</vt:lpstr>
      <vt:lpstr>实验</vt:lpstr>
      <vt:lpstr>方案缺陷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prelearn z</dc:creator>
  <cp:lastModifiedBy>Administrator</cp:lastModifiedBy>
  <cp:revision>850</cp:revision>
  <dcterms:created xsi:type="dcterms:W3CDTF">2025-11-25T07:13:16Z</dcterms:created>
  <dcterms:modified xsi:type="dcterms:W3CDTF">2025-11-30T04:57:58Z</dcterms:modified>
</cp:coreProperties>
</file>