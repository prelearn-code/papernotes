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sldIdLst>
    <p:sldId id="256" r:id="rId2"/>
    <p:sldId id="274" r:id="rId3"/>
    <p:sldId id="257" r:id="rId4"/>
    <p:sldId id="276" r:id="rId5"/>
    <p:sldId id="277" r:id="rId6"/>
    <p:sldId id="278" r:id="rId7"/>
    <p:sldId id="279" r:id="rId8"/>
    <p:sldId id="280" r:id="rId9"/>
    <p:sldId id="275" r:id="rId10"/>
    <p:sldId id="27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9CFD8-CAB8-48EB-8F6E-38F2E3A6F7FF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CF644-AC1C-4DF8-AD4F-FB45846C4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478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3480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华文宋体" panose="02010600040101010101" pitchFamily="2" charset="-122"/>
                <a:ea typeface="华文宋体" panose="02010600040101010101" pitchFamily="2" charset="-122"/>
              </a:defRPr>
            </a:lvl1pPr>
            <a:lvl2pPr>
              <a:defRPr sz="2200">
                <a:latin typeface="华文宋体" panose="02010600040101010101" pitchFamily="2" charset="-122"/>
                <a:ea typeface="华文宋体" panose="02010600040101010101" pitchFamily="2" charset="-122"/>
              </a:defRPr>
            </a:lvl2pPr>
            <a:lvl3pPr>
              <a:defRPr>
                <a:latin typeface="华文宋体" panose="02010600040101010101" pitchFamily="2" charset="-122"/>
                <a:ea typeface="华文宋体" panose="02010600040101010101" pitchFamily="2" charset="-122"/>
              </a:defRPr>
            </a:lvl3pPr>
            <a:lvl4pPr>
              <a:defRPr>
                <a:latin typeface="华文宋体" panose="02010600040101010101" pitchFamily="2" charset="-122"/>
                <a:ea typeface="华文宋体" panose="02010600040101010101" pitchFamily="2" charset="-122"/>
              </a:defRPr>
            </a:lvl4pPr>
            <a:lvl5pPr>
              <a:defRPr>
                <a:latin typeface="华文宋体" panose="02010600040101010101" pitchFamily="2" charset="-122"/>
                <a:ea typeface="华文宋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E70A7F-2326-E46F-3A0B-59E85AE05B16}"/>
              </a:ext>
            </a:extLst>
          </p:cNvPr>
          <p:cNvSpPr/>
          <p:nvPr userDrawn="1"/>
        </p:nvSpPr>
        <p:spPr>
          <a:xfrm>
            <a:off x="8105916" y="6356351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854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764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F71F21-A047-5ECC-7DF6-E96809032658}"/>
              </a:ext>
            </a:extLst>
          </p:cNvPr>
          <p:cNvSpPr/>
          <p:nvPr userDrawn="1"/>
        </p:nvSpPr>
        <p:spPr>
          <a:xfrm>
            <a:off x="8105916" y="6356351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8032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4545AC-89F2-4334-AB3F-97DC351DEA75}"/>
              </a:ext>
            </a:extLst>
          </p:cNvPr>
          <p:cNvSpPr/>
          <p:nvPr userDrawn="1"/>
        </p:nvSpPr>
        <p:spPr>
          <a:xfrm>
            <a:off x="8105916" y="6356350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525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FD7AF2-C9A5-A24D-F5E8-013481917964}"/>
              </a:ext>
            </a:extLst>
          </p:cNvPr>
          <p:cNvSpPr/>
          <p:nvPr userDrawn="1"/>
        </p:nvSpPr>
        <p:spPr>
          <a:xfrm>
            <a:off x="8105916" y="6356351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09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E83FD1-55F5-1613-634F-4965941B4B78}"/>
              </a:ext>
            </a:extLst>
          </p:cNvPr>
          <p:cNvSpPr/>
          <p:nvPr userDrawn="1"/>
        </p:nvSpPr>
        <p:spPr>
          <a:xfrm>
            <a:off x="8105916" y="6356350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6986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1691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54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华文宋体" panose="02010600040101010101" pitchFamily="2" charset="-122"/>
                <a:ea typeface="华文宋体" panose="02010600040101010101" pitchFamily="2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432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271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654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75A95-381A-4B2F-9824-DE0150AA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123931-85FF-9BF6-EB02-503378FB6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11B098-358D-7411-F984-6AE7E443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09709A-454B-E727-0DD2-C0FA04E728C5}"/>
              </a:ext>
            </a:extLst>
          </p:cNvPr>
          <p:cNvSpPr/>
          <p:nvPr userDrawn="1"/>
        </p:nvSpPr>
        <p:spPr>
          <a:xfrm>
            <a:off x="1143000" y="2275029"/>
            <a:ext cx="6858000" cy="12497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3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571144-0C5A-4DD7-57CC-C65069F57D72}"/>
              </a:ext>
            </a:extLst>
          </p:cNvPr>
          <p:cNvSpPr/>
          <p:nvPr userDrawn="1"/>
        </p:nvSpPr>
        <p:spPr>
          <a:xfrm>
            <a:off x="1143000" y="3524765"/>
            <a:ext cx="6858000" cy="901185"/>
          </a:xfrm>
          <a:prstGeom prst="rect">
            <a:avLst/>
          </a:prstGeom>
          <a:solidFill>
            <a:srgbClr val="453D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DBA9E07-CC5A-8801-10F6-C78F22CC295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386026" y="2689391"/>
            <a:ext cx="416718" cy="489478"/>
          </a:xfrm>
          <a:custGeom>
            <a:avLst/>
            <a:gdLst>
              <a:gd name="T0" fmla="*/ 17 w 68"/>
              <a:gd name="T1" fmla="*/ 26 h 60"/>
              <a:gd name="T2" fmla="*/ 33 w 68"/>
              <a:gd name="T3" fmla="*/ 31 h 60"/>
              <a:gd name="T4" fmla="*/ 33 w 68"/>
              <a:gd name="T5" fmla="*/ 31 h 60"/>
              <a:gd name="T6" fmla="*/ 49 w 68"/>
              <a:gd name="T7" fmla="*/ 26 h 60"/>
              <a:gd name="T8" fmla="*/ 34 w 68"/>
              <a:gd name="T9" fmla="*/ 18 h 60"/>
              <a:gd name="T10" fmla="*/ 59 w 68"/>
              <a:gd name="T11" fmla="*/ 16 h 60"/>
              <a:gd name="T12" fmla="*/ 55 w 68"/>
              <a:gd name="T13" fmla="*/ 23 h 60"/>
              <a:gd name="T14" fmla="*/ 56 w 68"/>
              <a:gd name="T15" fmla="*/ 15 h 60"/>
              <a:gd name="T16" fmla="*/ 56 w 68"/>
              <a:gd name="T17" fmla="*/ 12 h 60"/>
              <a:gd name="T18" fmla="*/ 52 w 68"/>
              <a:gd name="T19" fmla="*/ 23 h 60"/>
              <a:gd name="T20" fmla="*/ 68 w 68"/>
              <a:gd name="T21" fmla="*/ 32 h 60"/>
              <a:gd name="T22" fmla="*/ 68 w 68"/>
              <a:gd name="T23" fmla="*/ 34 h 60"/>
              <a:gd name="T24" fmla="*/ 67 w 68"/>
              <a:gd name="T25" fmla="*/ 34 h 60"/>
              <a:gd name="T26" fmla="*/ 29 w 68"/>
              <a:gd name="T27" fmla="*/ 50 h 60"/>
              <a:gd name="T28" fmla="*/ 68 w 68"/>
              <a:gd name="T29" fmla="*/ 45 h 60"/>
              <a:gd name="T30" fmla="*/ 30 w 68"/>
              <a:gd name="T31" fmla="*/ 60 h 60"/>
              <a:gd name="T32" fmla="*/ 28 w 68"/>
              <a:gd name="T33" fmla="*/ 59 h 60"/>
              <a:gd name="T34" fmla="*/ 3 w 68"/>
              <a:gd name="T35" fmla="*/ 25 h 60"/>
              <a:gd name="T36" fmla="*/ 14 w 68"/>
              <a:gd name="T37" fmla="*/ 23 h 60"/>
              <a:gd name="T38" fmla="*/ 1 w 68"/>
              <a:gd name="T39" fmla="*/ 10 h 60"/>
              <a:gd name="T40" fmla="*/ 32 w 68"/>
              <a:gd name="T41" fmla="*/ 0 h 60"/>
              <a:gd name="T42" fmla="*/ 65 w 68"/>
              <a:gd name="T43" fmla="*/ 9 h 60"/>
              <a:gd name="T44" fmla="*/ 59 w 68"/>
              <a:gd name="T45" fmla="*/ 14 h 60"/>
              <a:gd name="T46" fmla="*/ 59 w 68"/>
              <a:gd name="T47" fmla="*/ 16 h 60"/>
              <a:gd name="T48" fmla="*/ 58 w 68"/>
              <a:gd name="T49" fmla="*/ 9 h 60"/>
              <a:gd name="T50" fmla="*/ 33 w 68"/>
              <a:gd name="T51" fmla="*/ 4 h 60"/>
              <a:gd name="T52" fmla="*/ 33 w 68"/>
              <a:gd name="T53" fmla="*/ 8 h 60"/>
              <a:gd name="T54" fmla="*/ 54 w 68"/>
              <a:gd name="T55" fmla="*/ 10 h 60"/>
              <a:gd name="T56" fmla="*/ 32 w 68"/>
              <a:gd name="T57" fmla="*/ 53 h 60"/>
              <a:gd name="T58" fmla="*/ 67 w 68"/>
              <a:gd name="T59" fmla="*/ 42 h 60"/>
              <a:gd name="T60" fmla="*/ 32 w 68"/>
              <a:gd name="T61" fmla="*/ 49 h 60"/>
              <a:gd name="T62" fmla="*/ 67 w 68"/>
              <a:gd name="T63" fmla="*/ 40 h 60"/>
              <a:gd name="T64" fmla="*/ 32 w 68"/>
              <a:gd name="T65" fmla="*/ 49 h 60"/>
              <a:gd name="T66" fmla="*/ 32 w 68"/>
              <a:gd name="T67" fmla="*/ 47 h 60"/>
              <a:gd name="T68" fmla="*/ 67 w 68"/>
              <a:gd name="T69" fmla="*/ 3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" h="60">
                <a:moveTo>
                  <a:pt x="17" y="14"/>
                </a:move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7"/>
                  <a:pt x="18" y="27"/>
                </a:cubicBezTo>
                <a:cubicBezTo>
                  <a:pt x="22" y="28"/>
                  <a:pt x="29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6" y="31"/>
                  <a:pt x="39" y="30"/>
                  <a:pt x="41" y="30"/>
                </a:cubicBezTo>
                <a:cubicBezTo>
                  <a:pt x="45" y="29"/>
                  <a:pt x="47" y="27"/>
                  <a:pt x="49" y="26"/>
                </a:cubicBezTo>
                <a:cubicBezTo>
                  <a:pt x="49" y="14"/>
                  <a:pt x="49" y="14"/>
                  <a:pt x="49" y="14"/>
                </a:cubicBezTo>
                <a:cubicBezTo>
                  <a:pt x="34" y="18"/>
                  <a:pt x="34" y="18"/>
                  <a:pt x="34" y="18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59" y="16"/>
                </a:moveTo>
                <a:cubicBezTo>
                  <a:pt x="61" y="23"/>
                  <a:pt x="61" y="23"/>
                  <a:pt x="61" y="23"/>
                </a:cubicBezTo>
                <a:cubicBezTo>
                  <a:pt x="59" y="25"/>
                  <a:pt x="57" y="25"/>
                  <a:pt x="55" y="23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6"/>
                  <a:pt x="56" y="16"/>
                  <a:pt x="56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6" y="12"/>
                  <a:pt x="56" y="12"/>
                  <a:pt x="56" y="12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23"/>
                  <a:pt x="52" y="23"/>
                  <a:pt x="52" y="23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7" y="34"/>
                  <a:pt x="67" y="34"/>
                  <a:pt x="67" y="3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6"/>
                  <a:pt x="29" y="48"/>
                  <a:pt x="29" y="50"/>
                </a:cubicBezTo>
                <a:cubicBezTo>
                  <a:pt x="29" y="52"/>
                  <a:pt x="29" y="54"/>
                  <a:pt x="30" y="56"/>
                </a:cubicBezTo>
                <a:cubicBezTo>
                  <a:pt x="68" y="45"/>
                  <a:pt x="68" y="45"/>
                  <a:pt x="68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30" y="60"/>
                  <a:pt x="30" y="60"/>
                  <a:pt x="30" y="60"/>
                </a:cubicBezTo>
                <a:cubicBezTo>
                  <a:pt x="29" y="60"/>
                  <a:pt x="29" y="60"/>
                  <a:pt x="29" y="60"/>
                </a:cubicBezTo>
                <a:cubicBezTo>
                  <a:pt x="28" y="59"/>
                  <a:pt x="28" y="59"/>
                  <a:pt x="28" y="59"/>
                </a:cubicBezTo>
                <a:cubicBezTo>
                  <a:pt x="3" y="38"/>
                  <a:pt x="3" y="38"/>
                  <a:pt x="3" y="38"/>
                </a:cubicBezTo>
                <a:cubicBezTo>
                  <a:pt x="2" y="34"/>
                  <a:pt x="1" y="30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13"/>
                  <a:pt x="14" y="13"/>
                  <a:pt x="14" y="13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8"/>
                  <a:pt x="0" y="8"/>
                  <a:pt x="0" y="8"/>
                </a:cubicBezTo>
                <a:cubicBezTo>
                  <a:pt x="32" y="0"/>
                  <a:pt x="32" y="0"/>
                  <a:pt x="32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9"/>
                  <a:pt x="65" y="9"/>
                  <a:pt x="65" y="9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4"/>
                  <a:pt x="59" y="15"/>
                  <a:pt x="59" y="15"/>
                </a:cubicBezTo>
                <a:cubicBezTo>
                  <a:pt x="59" y="16"/>
                  <a:pt x="59" y="16"/>
                  <a:pt x="59" y="16"/>
                </a:cubicBezTo>
                <a:close/>
                <a:moveTo>
                  <a:pt x="54" y="10"/>
                </a:moveTo>
                <a:cubicBezTo>
                  <a:pt x="58" y="9"/>
                  <a:pt x="58" y="9"/>
                  <a:pt x="58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4"/>
                  <a:pt x="34" y="4"/>
                  <a:pt x="33" y="4"/>
                </a:cubicBezTo>
                <a:cubicBezTo>
                  <a:pt x="31" y="4"/>
                  <a:pt x="29" y="5"/>
                  <a:pt x="29" y="6"/>
                </a:cubicBezTo>
                <a:cubicBezTo>
                  <a:pt x="29" y="7"/>
                  <a:pt x="31" y="8"/>
                  <a:pt x="33" y="8"/>
                </a:cubicBezTo>
                <a:cubicBezTo>
                  <a:pt x="34" y="8"/>
                  <a:pt x="35" y="8"/>
                  <a:pt x="36" y="7"/>
                </a:cubicBezTo>
                <a:cubicBezTo>
                  <a:pt x="54" y="10"/>
                  <a:pt x="54" y="10"/>
                  <a:pt x="54" y="10"/>
                </a:cubicBezTo>
                <a:close/>
                <a:moveTo>
                  <a:pt x="32" y="52"/>
                </a:moveTo>
                <a:cubicBezTo>
                  <a:pt x="32" y="53"/>
                  <a:pt x="32" y="53"/>
                  <a:pt x="32" y="5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7" y="42"/>
                  <a:pt x="67" y="42"/>
                </a:cubicBezTo>
                <a:cubicBezTo>
                  <a:pt x="32" y="52"/>
                  <a:pt x="32" y="52"/>
                  <a:pt x="32" y="52"/>
                </a:cubicBezTo>
                <a:close/>
                <a:moveTo>
                  <a:pt x="32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67" y="40"/>
                  <a:pt x="67" y="40"/>
                  <a:pt x="67" y="40"/>
                </a:cubicBezTo>
                <a:cubicBezTo>
                  <a:pt x="67" y="39"/>
                  <a:pt x="67" y="39"/>
                  <a:pt x="67" y="39"/>
                </a:cubicBezTo>
                <a:cubicBezTo>
                  <a:pt x="32" y="49"/>
                  <a:pt x="32" y="49"/>
                  <a:pt x="32" y="49"/>
                </a:cubicBezTo>
                <a:close/>
                <a:moveTo>
                  <a:pt x="31" y="46"/>
                </a:moveTo>
                <a:cubicBezTo>
                  <a:pt x="32" y="47"/>
                  <a:pt x="32" y="47"/>
                  <a:pt x="32" y="4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6"/>
                  <a:pt x="67" y="36"/>
                  <a:pt x="67" y="36"/>
                </a:cubicBezTo>
                <a:lnTo>
                  <a:pt x="31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2501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8386549" y="300253"/>
            <a:ext cx="286603" cy="2623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矩形 4"/>
          <p:cNvSpPr/>
          <p:nvPr userDrawn="1"/>
        </p:nvSpPr>
        <p:spPr>
          <a:xfrm>
            <a:off x="8673152" y="66716"/>
            <a:ext cx="232011" cy="2335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矩形 5"/>
          <p:cNvSpPr/>
          <p:nvPr userDrawn="1"/>
        </p:nvSpPr>
        <p:spPr>
          <a:xfrm>
            <a:off x="8270542" y="6492877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57376" y="99084"/>
            <a:ext cx="56649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>
                <a:latin typeface="微软雅黑" panose="020B0503020204020204" pitchFamily="34" charset="-122"/>
              </a:rPr>
              <a:t> </a:t>
            </a:r>
          </a:p>
        </p:txBody>
      </p:sp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11F6D53E-FB06-F6A5-0ACA-0AE3FE87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4906-7EA5-408D-A778-BE10735DF782}" type="datetime1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B6799927-B33D-D742-BB4C-B55C7B94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8CE9B615-29E0-8068-0054-374F9A7C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34997-B2A8-4266-95AB-F24DA812A61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07EABF-EFB5-FB45-CC64-2E295E3678DF}"/>
              </a:ext>
            </a:extLst>
          </p:cNvPr>
          <p:cNvSpPr/>
          <p:nvPr userDrawn="1"/>
        </p:nvSpPr>
        <p:spPr>
          <a:xfrm>
            <a:off x="695325" y="549275"/>
            <a:ext cx="7693300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65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8386549" y="300253"/>
            <a:ext cx="286603" cy="2623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矩形 4"/>
          <p:cNvSpPr/>
          <p:nvPr userDrawn="1"/>
        </p:nvSpPr>
        <p:spPr>
          <a:xfrm>
            <a:off x="8673152" y="66716"/>
            <a:ext cx="232011" cy="2335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矩形 5"/>
          <p:cNvSpPr/>
          <p:nvPr userDrawn="1"/>
        </p:nvSpPr>
        <p:spPr>
          <a:xfrm>
            <a:off x="8270542" y="6492877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57376" y="99084"/>
            <a:ext cx="56649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>
                <a:latin typeface="微软雅黑" panose="020B0503020204020204" pitchFamily="34" charset="-122"/>
              </a:rPr>
              <a:t> </a:t>
            </a:r>
          </a:p>
        </p:txBody>
      </p:sp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11F6D53E-FB06-F6A5-0ACA-0AE3FE87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4906-7EA5-408D-A778-BE10735DF782}" type="datetime1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B6799927-B33D-D742-BB4C-B55C7B94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8CE9B615-29E0-8068-0054-374F9A7C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34997-B2A8-4266-95AB-F24DA812A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88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4B063-6D8F-4781-B5C5-AE4C2C0FD4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BD27D18-184A-5FD2-9E12-924D48D9B4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147"/>
            <a:ext cx="2057400" cy="46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34E5C64-BFB2-62F4-2930-32F90F3CBE57}"/>
              </a:ext>
            </a:extLst>
          </p:cNvPr>
          <p:cNvSpPr/>
          <p:nvPr userDrawn="1"/>
        </p:nvSpPr>
        <p:spPr>
          <a:xfrm>
            <a:off x="8519432" y="294359"/>
            <a:ext cx="276549" cy="2623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57084E-5966-4DEB-C5F6-68E554143091}"/>
              </a:ext>
            </a:extLst>
          </p:cNvPr>
          <p:cNvSpPr/>
          <p:nvPr userDrawn="1"/>
        </p:nvSpPr>
        <p:spPr>
          <a:xfrm>
            <a:off x="8795981" y="60822"/>
            <a:ext cx="225371" cy="2335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12840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6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华文宋体" panose="02010600040101010101" pitchFamily="2" charset="-122"/>
          <a:ea typeface="华文宋体" panose="0201060004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华文宋体" panose="02010600040101010101" pitchFamily="2" charset="-122"/>
          <a:ea typeface="华文宋体" panose="0201060004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华文宋体" panose="02010600040101010101" pitchFamily="2" charset="-122"/>
          <a:ea typeface="华文宋体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华文宋体" panose="02010600040101010101" pitchFamily="2" charset="-122"/>
          <a:ea typeface="华文宋体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华文宋体" panose="02010600040101010101" pitchFamily="2" charset="-122"/>
          <a:ea typeface="华文宋体" panose="0201060004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华文宋体" panose="02010600040101010101" pitchFamily="2" charset="-122"/>
          <a:ea typeface="华文宋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44A731B-B856-2D35-D4F6-4D6D89931757}"/>
              </a:ext>
            </a:extLst>
          </p:cNvPr>
          <p:cNvSpPr txBox="1"/>
          <p:nvPr/>
        </p:nvSpPr>
        <p:spPr>
          <a:xfrm>
            <a:off x="1067581" y="2186707"/>
            <a:ext cx="70088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/>
              <a:t>Enabling Verifiable Search and Integrity Auditing in Encrypted Decentralized Storage Using One Proof</a:t>
            </a:r>
            <a:endParaRPr lang="zh-CN" altLang="en-US" sz="3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7F0FAA-A0D8-0B35-83DA-64674B72AEF3}"/>
              </a:ext>
            </a:extLst>
          </p:cNvPr>
          <p:cNvSpPr txBox="1"/>
          <p:nvPr/>
        </p:nvSpPr>
        <p:spPr>
          <a:xfrm>
            <a:off x="1471516" y="3564485"/>
            <a:ext cx="5699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加密去中心化存储环境中的可验证搜索与完整性审计方案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92C390-F2A0-91A1-943A-6F4905328296}"/>
              </a:ext>
            </a:extLst>
          </p:cNvPr>
          <p:cNvSpPr txBox="1"/>
          <p:nvPr/>
        </p:nvSpPr>
        <p:spPr>
          <a:xfrm>
            <a:off x="2933951" y="5126930"/>
            <a:ext cx="277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汇报人：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E796ED-2B51-7E8B-E990-834429676788}"/>
              </a:ext>
            </a:extLst>
          </p:cNvPr>
          <p:cNvSpPr txBox="1"/>
          <p:nvPr/>
        </p:nvSpPr>
        <p:spPr>
          <a:xfrm>
            <a:off x="7625276" y="5706967"/>
            <a:ext cx="1175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时间</a:t>
            </a:r>
            <a:r>
              <a:rPr lang="en-US" altLang="zh-CN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:</a:t>
            </a:r>
            <a:endParaRPr lang="zh-CN" altLang="en-US" sz="2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60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456" y="0"/>
            <a:ext cx="207658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文本框 4"/>
          <p:cNvSpPr txBox="1"/>
          <p:nvPr/>
        </p:nvSpPr>
        <p:spPr>
          <a:xfrm>
            <a:off x="1278325" y="2749323"/>
            <a:ext cx="7194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2102025" y="1592080"/>
            <a:ext cx="2853433" cy="646331"/>
            <a:chOff x="8098970" y="1684028"/>
            <a:chExt cx="3416755" cy="861774"/>
          </a:xfrm>
        </p:grpSpPr>
        <p:grpSp>
          <p:nvGrpSpPr>
            <p:cNvPr id="15" name="组合 14"/>
            <p:cNvGrpSpPr/>
            <p:nvPr/>
          </p:nvGrpSpPr>
          <p:grpSpPr>
            <a:xfrm>
              <a:off x="9066169" y="1684028"/>
              <a:ext cx="2449556" cy="861774"/>
              <a:chOff x="8987701" y="1373760"/>
              <a:chExt cx="2449556" cy="861774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9042399" y="1373760"/>
                <a:ext cx="2394858" cy="553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100" b="1" dirty="0">
                    <a:latin typeface="微软雅黑" panose="020B0503020204020204" pitchFamily="34" charset="-122"/>
                  </a:rPr>
                  <a:t>背景知识</a:t>
                </a: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8987701" y="1835425"/>
                <a:ext cx="2449556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Background Acknowledge</a:t>
                </a:r>
                <a:endParaRPr lang="zh-CN" altLang="en-US" sz="135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8098970" y="1685526"/>
              <a:ext cx="899886" cy="829499"/>
              <a:chOff x="8098970" y="1685526"/>
              <a:chExt cx="899886" cy="829499"/>
            </a:xfrm>
          </p:grpSpPr>
          <p:sp>
            <p:nvSpPr>
              <p:cNvPr id="17" name="文本框 16"/>
              <p:cNvSpPr txBox="1"/>
              <p:nvPr/>
            </p:nvSpPr>
            <p:spPr>
              <a:xfrm>
                <a:off x="8098970" y="1714806"/>
                <a:ext cx="89988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3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33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8134913" y="1685526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4955458" y="3055826"/>
            <a:ext cx="2827940" cy="1142621"/>
            <a:chOff x="3873413" y="4736171"/>
            <a:chExt cx="3434257" cy="1523495"/>
          </a:xfrm>
        </p:grpSpPr>
        <p:grpSp>
          <p:nvGrpSpPr>
            <p:cNvPr id="22" name="组合 21"/>
            <p:cNvGrpSpPr/>
            <p:nvPr/>
          </p:nvGrpSpPr>
          <p:grpSpPr>
            <a:xfrm>
              <a:off x="4912812" y="4736171"/>
              <a:ext cx="2394858" cy="892551"/>
              <a:chOff x="4818742" y="3526390"/>
              <a:chExt cx="2394858" cy="892551"/>
            </a:xfrm>
          </p:grpSpPr>
          <p:sp>
            <p:nvSpPr>
              <p:cNvPr id="26" name="文本框 25"/>
              <p:cNvSpPr txBox="1"/>
              <p:nvPr/>
            </p:nvSpPr>
            <p:spPr>
              <a:xfrm>
                <a:off x="4818742" y="3526390"/>
                <a:ext cx="2394858" cy="553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100" b="1" dirty="0">
                    <a:latin typeface="微软雅黑" panose="020B0503020204020204" pitchFamily="34" charset="-122"/>
                  </a:rPr>
                  <a:t>实验</a:t>
                </a: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818742" y="4018832"/>
                <a:ext cx="2394858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Experiment</a:t>
                </a:r>
                <a:endParaRPr lang="zh-CN" altLang="en-US" sz="135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873413" y="4753058"/>
              <a:ext cx="899886" cy="1506608"/>
              <a:chOff x="3873413" y="4753058"/>
              <a:chExt cx="899886" cy="1506608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3873413" y="4782338"/>
                <a:ext cx="89988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3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33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3909356" y="4753058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2101142" y="4512919"/>
            <a:ext cx="2703650" cy="1107996"/>
            <a:chOff x="8098970" y="4751560"/>
            <a:chExt cx="3416755" cy="1508106"/>
          </a:xfrm>
        </p:grpSpPr>
        <p:grpSp>
          <p:nvGrpSpPr>
            <p:cNvPr id="29" name="组合 28"/>
            <p:cNvGrpSpPr/>
            <p:nvPr/>
          </p:nvGrpSpPr>
          <p:grpSpPr>
            <a:xfrm>
              <a:off x="9120867" y="4751560"/>
              <a:ext cx="2394858" cy="870109"/>
              <a:chOff x="9042399" y="3526390"/>
              <a:chExt cx="2394858" cy="870109"/>
            </a:xfrm>
          </p:grpSpPr>
          <p:sp>
            <p:nvSpPr>
              <p:cNvPr id="33" name="文本框 32"/>
              <p:cNvSpPr txBox="1"/>
              <p:nvPr/>
            </p:nvSpPr>
            <p:spPr>
              <a:xfrm>
                <a:off x="9042399" y="3526390"/>
                <a:ext cx="2394858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100" b="1" dirty="0">
                    <a:latin typeface="微软雅黑" panose="020B0503020204020204" pitchFamily="34" charset="-122"/>
                  </a:rPr>
                  <a:t>方案缺陷</a:t>
                </a: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9042399" y="3988054"/>
                <a:ext cx="2394858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Flaws</a:t>
                </a:r>
                <a:endParaRPr lang="zh-CN" altLang="en-US" sz="135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8098970" y="4753058"/>
              <a:ext cx="899886" cy="1506608"/>
              <a:chOff x="8098970" y="4753058"/>
              <a:chExt cx="899886" cy="1506608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8098970" y="4782338"/>
                <a:ext cx="89988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3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  <a:endParaRPr lang="zh-CN" altLang="en-US" sz="33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8134913" y="4753058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4955458" y="1531172"/>
            <a:ext cx="2698915" cy="1142621"/>
            <a:chOff x="3873413" y="3187016"/>
            <a:chExt cx="3434257" cy="1523495"/>
          </a:xfrm>
        </p:grpSpPr>
        <p:grpSp>
          <p:nvGrpSpPr>
            <p:cNvPr id="36" name="组合 35"/>
            <p:cNvGrpSpPr/>
            <p:nvPr/>
          </p:nvGrpSpPr>
          <p:grpSpPr>
            <a:xfrm>
              <a:off x="4912811" y="3187016"/>
              <a:ext cx="2394859" cy="892552"/>
              <a:chOff x="4818741" y="3526390"/>
              <a:chExt cx="2394859" cy="892552"/>
            </a:xfrm>
          </p:grpSpPr>
          <p:sp>
            <p:nvSpPr>
              <p:cNvPr id="40" name="文本框 39"/>
              <p:cNvSpPr txBox="1"/>
              <p:nvPr/>
            </p:nvSpPr>
            <p:spPr>
              <a:xfrm>
                <a:off x="4818742" y="3526390"/>
                <a:ext cx="239485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100" b="1" dirty="0">
                    <a:latin typeface="微软雅黑" panose="020B0503020204020204" pitchFamily="34" charset="-122"/>
                  </a:rPr>
                  <a:t>方案创新</a:t>
                </a: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4818741" y="4018831"/>
                <a:ext cx="2394857" cy="400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Innovation</a:t>
                </a:r>
                <a:endParaRPr lang="zh-CN" altLang="en-US" sz="135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3873413" y="3203903"/>
              <a:ext cx="899886" cy="1506608"/>
              <a:chOff x="3873413" y="3203903"/>
              <a:chExt cx="899886" cy="1506608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3873413" y="3233183"/>
                <a:ext cx="89988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3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33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356" y="3203903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2048627" y="3035591"/>
            <a:ext cx="2728886" cy="646331"/>
            <a:chOff x="8068576" y="3202405"/>
            <a:chExt cx="3447149" cy="861774"/>
          </a:xfrm>
        </p:grpSpPr>
        <p:grpSp>
          <p:nvGrpSpPr>
            <p:cNvPr id="43" name="组合 42"/>
            <p:cNvGrpSpPr/>
            <p:nvPr/>
          </p:nvGrpSpPr>
          <p:grpSpPr>
            <a:xfrm>
              <a:off x="9120867" y="3202405"/>
              <a:ext cx="2394858" cy="861774"/>
              <a:chOff x="9042399" y="3526390"/>
              <a:chExt cx="2394858" cy="861774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9042399" y="3526390"/>
                <a:ext cx="2394858" cy="553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100" b="1" dirty="0">
                    <a:latin typeface="微软雅黑" panose="020B0503020204020204" pitchFamily="34" charset="-122"/>
                  </a:rPr>
                  <a:t>方案实现</a:t>
                </a: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9042399" y="3988055"/>
                <a:ext cx="2394858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Implementation</a:t>
                </a: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8068576" y="3203903"/>
              <a:ext cx="930281" cy="829499"/>
              <a:chOff x="8068576" y="3203903"/>
              <a:chExt cx="930281" cy="829499"/>
            </a:xfrm>
          </p:grpSpPr>
          <p:sp>
            <p:nvSpPr>
              <p:cNvPr id="45" name="文本框 44"/>
              <p:cNvSpPr txBox="1"/>
              <p:nvPr/>
            </p:nvSpPr>
            <p:spPr>
              <a:xfrm>
                <a:off x="8068576" y="3233183"/>
                <a:ext cx="930281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3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33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8134913" y="3203903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2" fill="hold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fill="hold" nodeType="withEffect" p14:presetBounceEnd="4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4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2" fill="hold" nodeType="withEffect" p14:presetBounceEnd="4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fill="hold" nodeType="withEffect" p14:presetBounceEnd="4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fill="hold" nodeType="withEffect" p14:presetBounceEnd="40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bldLvl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2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2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fill="hold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bldLvl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背景知识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13275"/>
          </a:xfrm>
        </p:spPr>
        <p:txBody>
          <a:bodyPr/>
          <a:lstStyle/>
          <a:p>
            <a:r>
              <a:rPr lang="zh-CN" altLang="en-US" dirty="0"/>
              <a:t>背景：随着区块链技术的发展，新型 </a:t>
            </a:r>
            <a:r>
              <a:rPr lang="zh-CN" altLang="en-US" b="1" dirty="0"/>
              <a:t>去中心化存储网络（</a:t>
            </a:r>
            <a:r>
              <a:rPr lang="en-US" altLang="zh-CN" b="1" dirty="0"/>
              <a:t>Decentralized Storage Networks, DSNs</a:t>
            </a:r>
            <a:r>
              <a:rPr lang="zh-CN" altLang="en-US" b="1" dirty="0"/>
              <a:t>）</a:t>
            </a:r>
            <a:r>
              <a:rPr lang="zh-CN" altLang="en-US" dirty="0"/>
              <a:t> 如 </a:t>
            </a:r>
            <a:r>
              <a:rPr lang="en-US" altLang="zh-CN" dirty="0"/>
              <a:t>Sia</a:t>
            </a:r>
            <a:r>
              <a:rPr lang="zh-CN" altLang="en-US" dirty="0"/>
              <a:t>、</a:t>
            </a:r>
            <a:r>
              <a:rPr lang="en-US" altLang="zh-CN" dirty="0" err="1"/>
              <a:t>Filecoin</a:t>
            </a:r>
            <a:r>
              <a:rPr lang="zh-CN" altLang="en-US" dirty="0"/>
              <a:t>、</a:t>
            </a:r>
            <a:r>
              <a:rPr lang="en-US" altLang="zh-CN" dirty="0"/>
              <a:t>Swarm </a:t>
            </a:r>
            <a:r>
              <a:rPr lang="zh-CN" altLang="en-US" dirty="0"/>
              <a:t>等迅速兴起。与传统云存储相比，</a:t>
            </a:r>
            <a:r>
              <a:rPr lang="en-US" altLang="zh-CN" dirty="0"/>
              <a:t>DSN </a:t>
            </a:r>
            <a:r>
              <a:rPr lang="zh-CN" altLang="en-US" dirty="0"/>
              <a:t>依靠大量独立节点提供存储资源，具有 </a:t>
            </a:r>
            <a:r>
              <a:rPr lang="zh-CN" altLang="en-US" b="1" dirty="0"/>
              <a:t>自治性、可扩展性与透明性</a:t>
            </a:r>
            <a:r>
              <a:rPr lang="zh-CN" altLang="en-US" dirty="0"/>
              <a:t>，因此被视为未来云存储的重要形态。</a:t>
            </a:r>
            <a:endParaRPr lang="en-US" altLang="zh-CN" dirty="0"/>
          </a:p>
          <a:p>
            <a:r>
              <a:rPr lang="zh-CN" altLang="en-US" dirty="0"/>
              <a:t>在开放的环境中出现了两类基本需求：</a:t>
            </a:r>
            <a:endParaRPr lang="en-US" altLang="zh-CN" dirty="0"/>
          </a:p>
          <a:p>
            <a:pPr lvl="1"/>
            <a:r>
              <a:rPr lang="zh-CN" altLang="en-US" dirty="0"/>
              <a:t>数据完整性审计（</a:t>
            </a:r>
            <a:r>
              <a:rPr lang="en-US" altLang="zh-CN" dirty="0"/>
              <a:t>Integrity Auditing</a:t>
            </a:r>
            <a:r>
              <a:rPr lang="zh-CN" altLang="en-US" dirty="0"/>
              <a:t>）的基本需求</a:t>
            </a:r>
            <a:endParaRPr lang="en-US" altLang="zh-CN" dirty="0"/>
          </a:p>
          <a:p>
            <a:pPr lvl="2"/>
            <a:r>
              <a:rPr lang="zh-CN" altLang="en-US" dirty="0"/>
              <a:t>用户把数据加密后存储在 </a:t>
            </a:r>
            <a:r>
              <a:rPr lang="en-US" altLang="zh-CN" dirty="0"/>
              <a:t>DSN </a:t>
            </a:r>
            <a:r>
              <a:rPr lang="zh-CN" altLang="en-US" dirty="0"/>
              <a:t>节点上，但这些节点大多是</a:t>
            </a:r>
            <a:r>
              <a:rPr lang="zh-CN" altLang="en-US" b="1" dirty="0"/>
              <a:t>个人设备</a:t>
            </a:r>
            <a:r>
              <a:rPr lang="zh-CN" altLang="en-US" dirty="0"/>
              <a:t>，不具备完全可信性。</a:t>
            </a:r>
            <a:endParaRPr lang="en-US" altLang="zh-CN" dirty="0"/>
          </a:p>
          <a:p>
            <a:pPr lvl="2"/>
            <a:r>
              <a:rPr lang="zh-CN" altLang="en-US" dirty="0"/>
              <a:t>节点可能因为硬件故障、恶意行为等导致数据丢失，却仍向用户收取存储费用。</a:t>
            </a:r>
            <a:endParaRPr lang="en-US" altLang="zh-CN" dirty="0"/>
          </a:p>
          <a:p>
            <a:pPr lvl="1"/>
            <a:r>
              <a:rPr lang="zh-CN" altLang="en-US" dirty="0"/>
              <a:t>加密数据上的关键词搜索需求</a:t>
            </a:r>
            <a:endParaRPr lang="en-US" altLang="zh-CN" dirty="0"/>
          </a:p>
          <a:p>
            <a:pPr lvl="2"/>
            <a:r>
              <a:rPr lang="zh-CN" altLang="en-US" dirty="0"/>
              <a:t>搜索关键词与数据内容不能被服务器推断。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研究背景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9060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背景知识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 </a:t>
            </a:r>
            <a:r>
              <a:rPr lang="en-US" altLang="zh-CN" dirty="0"/>
              <a:t>DSN </a:t>
            </a:r>
            <a:r>
              <a:rPr lang="zh-CN" altLang="en-US" dirty="0"/>
              <a:t>中同时实现“可验证搜索 </a:t>
            </a:r>
            <a:r>
              <a:rPr lang="en-US" altLang="zh-CN" dirty="0"/>
              <a:t>+ </a:t>
            </a:r>
            <a:r>
              <a:rPr lang="zh-CN" altLang="en-US" dirty="0"/>
              <a:t>完整性审计”的困难：</a:t>
            </a:r>
            <a:endParaRPr lang="en-US" altLang="zh-CN" dirty="0"/>
          </a:p>
          <a:p>
            <a:pPr lvl="1"/>
            <a:r>
              <a:rPr lang="zh-CN" altLang="en-US" dirty="0"/>
              <a:t>不能引入第三方服务器。</a:t>
            </a:r>
            <a:endParaRPr lang="en-US" altLang="zh-CN" dirty="0"/>
          </a:p>
          <a:p>
            <a:pPr lvl="1"/>
            <a:r>
              <a:rPr lang="zh-CN" altLang="en-US" dirty="0"/>
              <a:t>链上空间极为有限。</a:t>
            </a:r>
            <a:endParaRPr lang="en-US" altLang="zh-CN" dirty="0"/>
          </a:p>
          <a:p>
            <a:r>
              <a:rPr lang="zh-CN" altLang="en-US" dirty="0"/>
              <a:t>现存方案缺陷：</a:t>
            </a:r>
            <a:endParaRPr lang="en-US" altLang="zh-CN" dirty="0"/>
          </a:p>
          <a:p>
            <a:pPr lvl="1"/>
            <a:r>
              <a:rPr lang="zh-CN" altLang="en-US" dirty="0"/>
              <a:t>多数方案依赖 </a:t>
            </a:r>
            <a:r>
              <a:rPr lang="zh-CN" altLang="en-US" b="1" dirty="0"/>
              <a:t>可信第三方（</a:t>
            </a:r>
            <a:r>
              <a:rPr lang="en-US" altLang="zh-CN" b="1" dirty="0"/>
              <a:t>arbiter</a:t>
            </a:r>
            <a:r>
              <a:rPr lang="zh-CN" altLang="en-US" b="1" dirty="0"/>
              <a:t>）</a:t>
            </a:r>
            <a:r>
              <a:rPr lang="zh-CN" altLang="en-US" dirty="0"/>
              <a:t> 重算搜索即可验证结果，但这与 </a:t>
            </a:r>
            <a:r>
              <a:rPr lang="en-US" altLang="zh-CN" dirty="0"/>
              <a:t>DSN </a:t>
            </a:r>
            <a:r>
              <a:rPr lang="zh-CN" altLang="en-US" dirty="0"/>
              <a:t>的</a:t>
            </a:r>
            <a:r>
              <a:rPr lang="zh-CN" altLang="en-US" b="1" dirty="0"/>
              <a:t>去中心化原则相冲突。</a:t>
            </a:r>
            <a:endParaRPr lang="en-US" altLang="zh-CN" dirty="0"/>
          </a:p>
          <a:p>
            <a:pPr lvl="1"/>
            <a:r>
              <a:rPr lang="zh-CN" altLang="en-US" dirty="0"/>
              <a:t>在链上存储完整索引代价过高。</a:t>
            </a:r>
            <a:endParaRPr lang="en-US" altLang="zh-CN" dirty="0"/>
          </a:p>
          <a:p>
            <a:pPr lvl="1"/>
            <a:r>
              <a:rPr lang="zh-CN" altLang="en-US" dirty="0"/>
              <a:t>现有方案只能单独解决“可验证搜索”或“数据完整性审计”中的某一项，而不能同时满足两者。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现存方案的不足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6882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背景知识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密码学知识</a:t>
            </a:r>
            <a:endParaRPr lang="en-US" altLang="zh-CN" dirty="0"/>
          </a:p>
          <a:p>
            <a:pPr lvl="1"/>
            <a:r>
              <a:rPr lang="zh-CN" altLang="en-US" dirty="0"/>
              <a:t>对称加密：用于大规模数据的加解密，解密与解密使用同样的密钥。</a:t>
            </a:r>
            <a:endParaRPr lang="en-US" altLang="zh-CN" dirty="0"/>
          </a:p>
          <a:p>
            <a:pPr lvl="1"/>
            <a:r>
              <a:rPr lang="zh-CN" altLang="en-US" dirty="0"/>
              <a:t>公钥加密：可用于数据加密与数据签名，加密解密密钥不同。一般私钥签名，公钥验证身份。公钥加密，私钥解密。</a:t>
            </a:r>
            <a:endParaRPr lang="en-US" altLang="zh-CN" dirty="0"/>
          </a:p>
          <a:p>
            <a:pPr lvl="1"/>
            <a:r>
              <a:rPr lang="zh-CN" altLang="en-US" dirty="0"/>
              <a:t>哈希算法：将加密内容生成一段固定的代码串，并且看不出来代码串与输入的内容的联系，只能知道不同的输入得到不同的输出代码串。</a:t>
            </a:r>
            <a:endParaRPr lang="en-US" altLang="zh-CN" dirty="0"/>
          </a:p>
          <a:p>
            <a:r>
              <a:rPr lang="zh-CN" altLang="en-US" dirty="0"/>
              <a:t>双线性配对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技术知识介绍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2289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方案创新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关键词安全：</a:t>
            </a:r>
            <a:endParaRPr lang="en-US" altLang="zh-CN" dirty="0"/>
          </a:p>
          <a:p>
            <a:pPr lvl="1"/>
            <a:r>
              <a:rPr lang="zh-CN" altLang="en-US" dirty="0"/>
              <a:t>文件对应的关键词为了进行关键词关联搜索，实现可搜索加密。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对称加密算法加密关键词</a:t>
            </a:r>
            <a:r>
              <a:rPr lang="zh-CN" altLang="en-US" dirty="0"/>
              <a:t>保障关键词的安全性。</a:t>
            </a:r>
            <a:endParaRPr lang="en-US" altLang="zh-CN" dirty="0"/>
          </a:p>
          <a:p>
            <a:r>
              <a:rPr lang="zh-CN" altLang="en-US" dirty="0"/>
              <a:t>前向安全</a:t>
            </a:r>
            <a:endParaRPr lang="en-US" altLang="zh-CN" dirty="0"/>
          </a:p>
          <a:p>
            <a:pPr lvl="1"/>
            <a:r>
              <a:rPr lang="zh-CN" altLang="en-US" dirty="0"/>
              <a:t>设计</a:t>
            </a:r>
            <a:r>
              <a:rPr lang="zh-CN" altLang="en-US" dirty="0">
                <a:solidFill>
                  <a:srgbClr val="FF0000"/>
                </a:solidFill>
              </a:rPr>
              <a:t>关键词的状态链</a:t>
            </a:r>
            <a:r>
              <a:rPr lang="zh-CN" altLang="en-US" dirty="0"/>
              <a:t>，每一个关键词新增一个文件都会怎会加一个新的状态，并组成链，只能获取最新的关键词状态才能解密链。</a:t>
            </a:r>
            <a:endParaRPr lang="en-US" altLang="zh-CN" dirty="0"/>
          </a:p>
          <a:p>
            <a:r>
              <a:rPr lang="zh-CN" altLang="en-US" dirty="0"/>
              <a:t>搜索证明与文件审计一体化</a:t>
            </a:r>
            <a:endParaRPr lang="en-US" altLang="zh-CN" dirty="0"/>
          </a:p>
          <a:p>
            <a:pPr lvl="1"/>
            <a:r>
              <a:rPr lang="zh-CN" altLang="en-US" dirty="0"/>
              <a:t>加密可验证搜索证明</a:t>
            </a:r>
            <a:endParaRPr lang="en-US" altLang="zh-CN" dirty="0"/>
          </a:p>
          <a:p>
            <a:pPr lvl="1"/>
            <a:r>
              <a:rPr lang="zh-CN" altLang="en-US" dirty="0"/>
              <a:t>数据完整性证明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技术创新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645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方案实现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结构设计</a:t>
            </a:r>
            <a:endParaRPr lang="en-US" altLang="zh-CN" dirty="0"/>
          </a:p>
          <a:p>
            <a:pPr lvl="1"/>
            <a:r>
              <a:rPr lang="zh-CN" altLang="en-US" dirty="0"/>
              <a:t>关键词：一个文件可以同时包含多个关键词，同时一个关键词可以链接多个文件，在增加加密文件时，同时对于关键词的状态进行更新，关键词链接的每个文件对应关键词的一个状态。</a:t>
            </a:r>
            <a:endParaRPr lang="en-US" altLang="zh-CN" dirty="0"/>
          </a:p>
          <a:p>
            <a:pPr lvl="1"/>
            <a:r>
              <a:rPr lang="zh-CN" altLang="en-US" dirty="0"/>
              <a:t>客户端：有文件存储需求的用户，对于文件进行加密存储与证明请求，可以通过区块链对于证明进行获取与检验。</a:t>
            </a:r>
            <a:endParaRPr lang="en-US" altLang="zh-CN" dirty="0"/>
          </a:p>
          <a:p>
            <a:pPr lvl="1"/>
            <a:r>
              <a:rPr lang="zh-CN" altLang="en-US" dirty="0"/>
              <a:t>区块链：主要存储关键的信息，客户端的证明生成请求、客户端的公钥、固定公共参数、生成的证明等。</a:t>
            </a:r>
            <a:endParaRPr lang="en-US" altLang="zh-CN" dirty="0"/>
          </a:p>
          <a:p>
            <a:pPr lvl="1"/>
            <a:r>
              <a:rPr lang="zh-CN" altLang="en-US" dirty="0"/>
              <a:t>存储端：主要对于加密文件进行存储、检索，通过关键词进行可验证搜索证明的生成以及通过文件</a:t>
            </a:r>
            <a:r>
              <a:rPr lang="en-US" altLang="zh-CN" dirty="0"/>
              <a:t>ID</a:t>
            </a:r>
            <a:r>
              <a:rPr lang="zh-CN" altLang="en-US" dirty="0"/>
              <a:t>进行完整性证明生成与信息上链。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方案概述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4983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方案实现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密码学知识</a:t>
            </a:r>
            <a:endParaRPr lang="en-US" altLang="zh-CN" dirty="0"/>
          </a:p>
          <a:p>
            <a:r>
              <a:rPr lang="zh-CN" altLang="en-US" dirty="0"/>
              <a:t>双线性配对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技术创新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098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81ABA-FB76-315A-E5A9-263578AEB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A461A439-6360-A722-11C6-0AE0FA81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66057"/>
            <a:ext cx="7886700" cy="725714"/>
          </a:xfrm>
        </p:spPr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C227B6D-D82B-0616-E78D-2CDB8B74D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02279"/>
            <a:ext cx="7886700" cy="1377950"/>
          </a:xfrm>
        </p:spPr>
        <p:txBody>
          <a:bodyPr/>
          <a:lstStyle/>
          <a:p>
            <a:r>
              <a:rPr lang="zh-CN" altLang="en-US" dirty="0"/>
              <a:t>内容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373E26-97B3-D6FE-3033-28F1707775C8}"/>
              </a:ext>
            </a:extLst>
          </p:cNvPr>
          <p:cNvSpPr/>
          <p:nvPr/>
        </p:nvSpPr>
        <p:spPr>
          <a:xfrm>
            <a:off x="628650" y="1291771"/>
            <a:ext cx="394335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本单小节</a:t>
            </a:r>
            <a:r>
              <a:rPr lang="en-US" altLang="zh-CN" sz="2400" dirty="0">
                <a:solidFill>
                  <a:schemeClr val="bg1"/>
                </a:solidFill>
              </a:rPr>
              <a:t>/</a:t>
            </a:r>
            <a:r>
              <a:rPr lang="zh-CN" altLang="en-US" sz="2400" dirty="0">
                <a:solidFill>
                  <a:schemeClr val="bg1"/>
                </a:solidFill>
              </a:rPr>
              <a:t>本页题目</a:t>
            </a:r>
            <a:endParaRPr lang="zh-CN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40F8DE-C116-8900-E6C5-C56176905BCE}"/>
              </a:ext>
            </a:extLst>
          </p:cNvPr>
          <p:cNvSpPr/>
          <p:nvPr/>
        </p:nvSpPr>
        <p:spPr>
          <a:xfrm>
            <a:off x="628650" y="3512457"/>
            <a:ext cx="394335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本单小节</a:t>
            </a:r>
            <a:r>
              <a:rPr lang="en-US" altLang="zh-CN" sz="2400" dirty="0">
                <a:solidFill>
                  <a:schemeClr val="bg1"/>
                </a:solidFill>
              </a:rPr>
              <a:t>/</a:t>
            </a:r>
            <a:r>
              <a:rPr lang="zh-CN" altLang="en-US" sz="2400" dirty="0">
                <a:solidFill>
                  <a:schemeClr val="bg1"/>
                </a:solidFill>
              </a:rPr>
              <a:t>本页题目</a:t>
            </a:r>
            <a:endParaRPr lang="zh-CN" alt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964D27-E81B-7E19-D0EE-852788655C2F}"/>
              </a:ext>
            </a:extLst>
          </p:cNvPr>
          <p:cNvSpPr/>
          <p:nvPr/>
        </p:nvSpPr>
        <p:spPr>
          <a:xfrm>
            <a:off x="628650" y="4039436"/>
            <a:ext cx="8113593" cy="524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宋体" panose="02010600040101010101" pitchFamily="2" charset="-122"/>
                <a:ea typeface="华文宋体" panose="02010600040101010101" pitchFamily="2" charset="-122"/>
              </a:rPr>
              <a:t>内容</a:t>
            </a:r>
            <a:r>
              <a:rPr lang="en-US" altLang="zh-CN" sz="2200" dirty="0">
                <a:latin typeface="华文宋体" panose="02010600040101010101" pitchFamily="2" charset="-122"/>
                <a:ea typeface="华文宋体" panose="02010600040101010101" pitchFamily="2" charset="-122"/>
              </a:rPr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4D28C0-13FF-26C2-9DAB-6CF3B3BC29BC}"/>
              </a:ext>
            </a:extLst>
          </p:cNvPr>
          <p:cNvSpPr txBox="1"/>
          <p:nvPr/>
        </p:nvSpPr>
        <p:spPr>
          <a:xfrm>
            <a:off x="8173503" y="6367141"/>
            <a:ext cx="397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6982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5325" y="549275"/>
            <a:ext cx="7693300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5325" y="2290226"/>
            <a:ext cx="76933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1"/>
                </a:solidFill>
              </a:rPr>
              <a:t>THANKS</a:t>
            </a: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</a:rPr>
              <a:t>欢迎批评指正！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3" grpId="1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汇报模板.pptx" id="{9D8FFBCB-747C-4EE8-A333-17F6E0F65EA7}" vid="{3C429314-C835-49BE-9457-D471D7FDA3C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汇报模板</Template>
  <TotalTime>1205</TotalTime>
  <Words>667</Words>
  <Application>Microsoft Office PowerPoint</Application>
  <PresentationFormat>全屏显示(4:3)</PresentationFormat>
  <Paragraphs>80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华文仿宋</vt:lpstr>
      <vt:lpstr>华文宋体</vt:lpstr>
      <vt:lpstr>微软雅黑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背景知识</vt:lpstr>
      <vt:lpstr>背景知识</vt:lpstr>
      <vt:lpstr>背景知识</vt:lpstr>
      <vt:lpstr>方案创新</vt:lpstr>
      <vt:lpstr>方案实现</vt:lpstr>
      <vt:lpstr>方案实现</vt:lpstr>
      <vt:lpstr>研究背景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prelearn z</dc:creator>
  <cp:lastModifiedBy>prelearn z</cp:lastModifiedBy>
  <cp:revision>188</cp:revision>
  <dcterms:created xsi:type="dcterms:W3CDTF">2025-11-25T07:13:16Z</dcterms:created>
  <dcterms:modified xsi:type="dcterms:W3CDTF">2025-11-26T03:19:14Z</dcterms:modified>
</cp:coreProperties>
</file>